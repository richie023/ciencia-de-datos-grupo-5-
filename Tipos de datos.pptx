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Mono Medium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Medium-bold.fntdata"/><Relationship Id="rId16" Type="http://schemas.openxmlformats.org/officeDocument/2006/relationships/font" Target="fonts/RobotoMonoMedium-regular.fntdata"/><Relationship Id="rId19" Type="http://schemas.openxmlformats.org/officeDocument/2006/relationships/font" Target="fonts/RobotoMonoMedium-boldItalic.fntdata"/><Relationship Id="rId18" Type="http://schemas.openxmlformats.org/officeDocument/2006/relationships/font" Target="fonts/RobotoMono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46e2fab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46e2fab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46e2fabc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46e2fab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46e2fabc1_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46e2fabc1_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46e2fabc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46e2fab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46e2fabc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46e2fab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46e2fabc1_1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46e2fabc1_1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46e2fabc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46e2fabc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46e2fabc1_1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46e2fabc1_1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46e2fabc1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46e2fabc1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4417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estructurados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227900"/>
            <a:ext cx="7505700" cy="32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s" sz="918">
                <a:latin typeface="Roboto Mono"/>
                <a:ea typeface="Roboto Mono"/>
                <a:cs typeface="Roboto Mono"/>
                <a:sym typeface="Roboto Mono"/>
              </a:rPr>
              <a:t>¿Qué son? </a:t>
            </a:r>
            <a:endParaRPr b="1"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s" sz="918">
                <a:latin typeface="Roboto Mono"/>
                <a:ea typeface="Roboto Mono"/>
                <a:cs typeface="Roboto Mono"/>
                <a:sym typeface="Roboto Mono"/>
              </a:rPr>
              <a:t>Son los datos que utilizan un formato predefinido (filas y columnas), los campos son fijos así como la forma en que se almacenan. Estos son fáciles de analizar, buscar y organizar. Adicionalmente se consultan con SQL.</a:t>
            </a:r>
            <a:endParaRPr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s" sz="918">
                <a:latin typeface="Roboto Mono"/>
                <a:ea typeface="Roboto Mono"/>
                <a:cs typeface="Roboto Mono"/>
                <a:sym typeface="Roboto Mono"/>
              </a:rPr>
              <a:t>¿Qué tipo de información contiene?</a:t>
            </a:r>
            <a:endParaRPr b="1"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-28686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18"/>
              <a:buFont typeface="Roboto Mono"/>
              <a:buChar char="●"/>
            </a:pPr>
            <a:r>
              <a:rPr lang="es" sz="918">
                <a:latin typeface="Roboto Mono"/>
                <a:ea typeface="Roboto Mono"/>
                <a:cs typeface="Roboto Mono"/>
                <a:sym typeface="Roboto Mono"/>
              </a:rPr>
              <a:t>Información numérica</a:t>
            </a:r>
            <a:endParaRPr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-28686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18"/>
              <a:buFont typeface="Roboto Mono"/>
              <a:buChar char="●"/>
            </a:pPr>
            <a:r>
              <a:rPr lang="es" sz="918">
                <a:latin typeface="Roboto Mono"/>
                <a:ea typeface="Roboto Mono"/>
                <a:cs typeface="Roboto Mono"/>
                <a:sym typeface="Roboto Mono"/>
              </a:rPr>
              <a:t>Fechas </a:t>
            </a:r>
            <a:endParaRPr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-28686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18"/>
              <a:buFont typeface="Roboto Mono"/>
              <a:buChar char="●"/>
            </a:pPr>
            <a:r>
              <a:rPr lang="es" sz="918">
                <a:latin typeface="Roboto Mono"/>
                <a:ea typeface="Roboto Mono"/>
                <a:cs typeface="Roboto Mono"/>
                <a:sym typeface="Roboto Mono"/>
              </a:rPr>
              <a:t>Ubicaciones</a:t>
            </a:r>
            <a:endParaRPr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-28686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18"/>
              <a:buFont typeface="Roboto Mono"/>
              <a:buChar char="●"/>
            </a:pPr>
            <a:r>
              <a:rPr lang="es" sz="918">
                <a:latin typeface="Roboto Mono"/>
                <a:ea typeface="Roboto Mono"/>
                <a:cs typeface="Roboto Mono"/>
                <a:sym typeface="Roboto Mono"/>
              </a:rPr>
              <a:t>Nombres</a:t>
            </a:r>
            <a:endParaRPr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-28686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18"/>
              <a:buFont typeface="Roboto Mono"/>
              <a:buChar char="●"/>
            </a:pPr>
            <a:r>
              <a:rPr lang="es" sz="918">
                <a:latin typeface="Roboto Mono"/>
                <a:ea typeface="Roboto Mono"/>
                <a:cs typeface="Roboto Mono"/>
                <a:sym typeface="Roboto Mono"/>
              </a:rPr>
              <a:t>Valores cuantificables</a:t>
            </a:r>
            <a:endParaRPr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s" sz="918">
                <a:latin typeface="Roboto Mono"/>
                <a:ea typeface="Roboto Mono"/>
                <a:cs typeface="Roboto Mono"/>
                <a:sym typeface="Roboto Mono"/>
              </a:rPr>
              <a:t>¿En qué empresa podría utilizarse?</a:t>
            </a:r>
            <a:endParaRPr b="1"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-28686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18"/>
              <a:buFont typeface="Roboto Mono"/>
              <a:buChar char="●"/>
            </a:pPr>
            <a:r>
              <a:rPr lang="es" sz="918">
                <a:latin typeface="Roboto Mono"/>
                <a:ea typeface="Roboto Mono"/>
                <a:cs typeface="Roboto Mono"/>
                <a:sym typeface="Roboto Mono"/>
              </a:rPr>
              <a:t>Sector financiero y banca</a:t>
            </a:r>
            <a:endParaRPr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-28686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18"/>
              <a:buFont typeface="Roboto Mono"/>
              <a:buChar char="●"/>
            </a:pPr>
            <a:r>
              <a:rPr lang="es" sz="918">
                <a:latin typeface="Roboto Mono"/>
                <a:ea typeface="Roboto Mono"/>
                <a:cs typeface="Roboto Mono"/>
                <a:sym typeface="Roboto Mono"/>
              </a:rPr>
              <a:t>Logística y transporte</a:t>
            </a:r>
            <a:endParaRPr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-28686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18"/>
              <a:buFont typeface="Roboto Mono"/>
              <a:buChar char="●"/>
            </a:pPr>
            <a:r>
              <a:rPr lang="es" sz="918">
                <a:latin typeface="Roboto Mono"/>
                <a:ea typeface="Roboto Mono"/>
                <a:cs typeface="Roboto Mono"/>
                <a:sym typeface="Roboto Mono"/>
              </a:rPr>
              <a:t>Comercio electrónico y retail (E-commerce)</a:t>
            </a:r>
            <a:endParaRPr sz="918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918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0" l="0" r="65919" t="21309"/>
          <a:stretch/>
        </p:blipFill>
        <p:spPr>
          <a:xfrm>
            <a:off x="6423325" y="2045026"/>
            <a:ext cx="1730900" cy="2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481275" y="845600"/>
            <a:ext cx="78435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51C75"/>
                </a:solidFill>
              </a:rPr>
              <a:t>Datos semiestructurados</a:t>
            </a:r>
            <a:endParaRPr>
              <a:solidFill>
                <a:srgbClr val="351C75"/>
              </a:solidFill>
            </a:endParaRPr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311700" y="1503925"/>
            <a:ext cx="8520600" cy="3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1200">
                <a:latin typeface="Roboto Mono Medium"/>
                <a:ea typeface="Roboto Mono Medium"/>
                <a:cs typeface="Roboto Mono Medium"/>
                <a:sym typeface="Roboto Mono Medium"/>
              </a:rPr>
              <a:t>¿</a:t>
            </a:r>
            <a:r>
              <a:rPr b="1" lang="es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Qué son? </a:t>
            </a:r>
            <a:endParaRPr b="1"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Los datos semiestructurados son aquellos que </a:t>
            </a:r>
            <a:r>
              <a:rPr b="1"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no siguen el esquema rígido de una base de datos relacional</a:t>
            </a:r>
            <a:r>
              <a:rPr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pero sí contienen una estructura organizada mediante etiquetas, marcas o claves que facilitan su almacenamiento y análisis.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¿Qué tipo de información contiene?</a:t>
            </a:r>
            <a:endParaRPr b="1"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Datos personales:</a:t>
            </a:r>
            <a:r>
              <a:rPr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nombres, direcciones, teléfonos, correos electrónicos.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Información de productos</a:t>
            </a:r>
            <a:r>
              <a:rPr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nombre, precio, categoría, descripción, disponibilidad.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Registros de eventos (logs):</a:t>
            </a:r>
            <a:r>
              <a:rPr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fecha, hora, usuario, acción realizada, dirección IP.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Mensajes y comunicaciones</a:t>
            </a:r>
            <a:r>
              <a:rPr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remitente, destinatario, asunto, contenido y archivos adjuntos en correos electrónicos.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Datos de aplicaciones web:</a:t>
            </a:r>
            <a:r>
              <a:rPr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perfiles de usuarios, configuraciones, preferencias e historial de actividades.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Información de dispositivos IoT</a:t>
            </a:r>
            <a:r>
              <a:rPr lang="es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temperatura, ubicación, nivel de batería, estado del dispositivo y hora de la medición.</a:t>
            </a:r>
            <a:r>
              <a:rPr lang="es" sz="200">
                <a:latin typeface="Roboto Mono"/>
                <a:ea typeface="Roboto Mono"/>
                <a:cs typeface="Roboto Mono"/>
                <a:sym typeface="Roboto Mono"/>
              </a:rPr>
              <a:t>://www.crowdstrike.com/en-us/cybersecurity-101/cloud-security/semi-structured-data/</a:t>
            </a:r>
            <a:endParaRPr sz="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311700" y="23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¿En </a:t>
            </a:r>
            <a:r>
              <a:rPr lang="es"/>
              <a:t>qué</a:t>
            </a:r>
            <a:r>
              <a:rPr lang="es"/>
              <a:t> empresa </a:t>
            </a:r>
            <a:r>
              <a:rPr lang="es"/>
              <a:t>podría</a:t>
            </a:r>
            <a:r>
              <a:rPr lang="es"/>
              <a:t> utilizarse?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5600">
              <a:solidFill>
                <a:schemeClr val="dk2"/>
              </a:solidFill>
            </a:endParaRPr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311700" y="1656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5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1860"/>
              <a:t>Se puede utilizar en casi todas las empresas medianas y grande del país.</a:t>
            </a:r>
            <a:endParaRPr b="1" sz="1860">
              <a:solidFill>
                <a:schemeClr val="dk1"/>
              </a:solidFill>
            </a:endParaRPr>
          </a:p>
          <a:p>
            <a:pPr indent="-34671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60"/>
              <a:buChar char="●"/>
            </a:pPr>
            <a:r>
              <a:rPr b="1" lang="es" sz="1860"/>
              <a:t>Sector financiero: Bac o el Banco Nacional. </a:t>
            </a:r>
            <a:endParaRPr b="1" sz="1860"/>
          </a:p>
          <a:p>
            <a:pPr indent="-3467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0"/>
              <a:buChar char="●"/>
            </a:pPr>
            <a:r>
              <a:rPr b="1" lang="es" sz="1860"/>
              <a:t>Sector logístico: Dos pinos o Grupo purdy.</a:t>
            </a:r>
            <a:endParaRPr b="1" sz="1860"/>
          </a:p>
          <a:p>
            <a:pPr indent="-3467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0"/>
              <a:buChar char="●"/>
            </a:pPr>
            <a:r>
              <a:rPr b="1" lang="es" sz="1860"/>
              <a:t>Tecnología y servicios: Novacomp.</a:t>
            </a:r>
            <a:endParaRPr b="1" sz="1860"/>
          </a:p>
          <a:p>
            <a:pPr indent="-3467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0"/>
              <a:buChar char="●"/>
            </a:pPr>
            <a:r>
              <a:rPr b="1" lang="es" sz="1860"/>
              <a:t>Firmas de Consultoría y Datos: DATAI y SmartGo360.</a:t>
            </a:r>
            <a:endParaRPr b="1" sz="18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6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60"/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34152" r="33705" t="25855"/>
          <a:stretch/>
        </p:blipFill>
        <p:spPr>
          <a:xfrm>
            <a:off x="6735125" y="2305475"/>
            <a:ext cx="1738800" cy="22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819150" y="386375"/>
            <a:ext cx="75057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No Estructurados</a:t>
            </a:r>
            <a:endParaRPr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819150" y="1170525"/>
            <a:ext cx="7505700" cy="29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915">
                <a:latin typeface="Roboto Mono"/>
                <a:ea typeface="Roboto Mono"/>
                <a:cs typeface="Roboto Mono"/>
                <a:sym typeface="Roboto Mono"/>
              </a:rPr>
              <a:t>¿Qué son?</a:t>
            </a:r>
            <a:endParaRPr b="1"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915">
                <a:latin typeface="Roboto Mono"/>
                <a:ea typeface="Roboto Mono"/>
                <a:cs typeface="Roboto Mono"/>
                <a:sym typeface="Roboto Mono"/>
              </a:rPr>
              <a:t>Es la información que no posee un formato, modelo o esquema definido, representa el 80% de toda la información generada en el mundo.</a:t>
            </a:r>
            <a:endParaRPr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s" sz="915">
                <a:latin typeface="Roboto Mono"/>
                <a:ea typeface="Roboto Mono"/>
                <a:cs typeface="Roboto Mono"/>
                <a:sym typeface="Roboto Mono"/>
              </a:rPr>
              <a:t>¿Qué tipo de información contiene?</a:t>
            </a:r>
            <a:endParaRPr b="1"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-286703" lvl="0" marL="457200" rtl="0" algn="l">
              <a:spcBef>
                <a:spcPts val="1200"/>
              </a:spcBef>
              <a:spcAft>
                <a:spcPts val="0"/>
              </a:spcAft>
              <a:buSzPts val="915"/>
              <a:buFont typeface="Roboto Mono"/>
              <a:buChar char="●"/>
            </a:pPr>
            <a:r>
              <a:rPr lang="es" sz="915">
                <a:latin typeface="Roboto Mono"/>
                <a:ea typeface="Roboto Mono"/>
                <a:cs typeface="Roboto Mono"/>
                <a:sym typeface="Roboto Mono"/>
              </a:rPr>
              <a:t>Texto libre, </a:t>
            </a:r>
            <a:endParaRPr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-286703" lvl="0" marL="457200" rtl="0" algn="l">
              <a:spcBef>
                <a:spcPts val="0"/>
              </a:spcBef>
              <a:spcAft>
                <a:spcPts val="0"/>
              </a:spcAft>
              <a:buSzPts val="915"/>
              <a:buFont typeface="Roboto Mono"/>
              <a:buChar char="●"/>
            </a:pPr>
            <a:r>
              <a:rPr lang="es" sz="915">
                <a:latin typeface="Roboto Mono"/>
                <a:ea typeface="Roboto Mono"/>
                <a:cs typeface="Roboto Mono"/>
                <a:sym typeface="Roboto Mono"/>
              </a:rPr>
              <a:t>Contenido visual </a:t>
            </a:r>
            <a:endParaRPr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-286703" lvl="0" marL="457200" rtl="0" algn="l">
              <a:spcBef>
                <a:spcPts val="0"/>
              </a:spcBef>
              <a:spcAft>
                <a:spcPts val="0"/>
              </a:spcAft>
              <a:buSzPts val="915"/>
              <a:buFont typeface="Roboto Mono"/>
              <a:buChar char="●"/>
            </a:pPr>
            <a:r>
              <a:rPr lang="es" sz="915">
                <a:latin typeface="Roboto Mono"/>
                <a:ea typeface="Roboto Mono"/>
                <a:cs typeface="Roboto Mono"/>
                <a:sym typeface="Roboto Mono"/>
              </a:rPr>
              <a:t>Archivos de audio </a:t>
            </a:r>
            <a:endParaRPr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-286703" lvl="0" marL="457200" rtl="0" algn="l">
              <a:spcBef>
                <a:spcPts val="0"/>
              </a:spcBef>
              <a:spcAft>
                <a:spcPts val="0"/>
              </a:spcAft>
              <a:buSzPts val="915"/>
              <a:buFont typeface="Roboto Mono"/>
              <a:buChar char="●"/>
            </a:pPr>
            <a:r>
              <a:rPr lang="es" sz="915">
                <a:latin typeface="Roboto Mono"/>
                <a:ea typeface="Roboto Mono"/>
                <a:cs typeface="Roboto Mono"/>
                <a:sym typeface="Roboto Mono"/>
              </a:rPr>
              <a:t>Redes sociales y web </a:t>
            </a:r>
            <a:endParaRPr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-286703" lvl="0" marL="457200" rtl="0" algn="l">
              <a:spcBef>
                <a:spcPts val="0"/>
              </a:spcBef>
              <a:spcAft>
                <a:spcPts val="0"/>
              </a:spcAft>
              <a:buSzPts val="915"/>
              <a:buFont typeface="Roboto Mono"/>
              <a:buChar char="●"/>
            </a:pPr>
            <a:r>
              <a:rPr lang="es" sz="915">
                <a:latin typeface="Roboto Mono"/>
                <a:ea typeface="Roboto Mono"/>
                <a:cs typeface="Roboto Mono"/>
                <a:sym typeface="Roboto Mono"/>
              </a:rPr>
              <a:t>Datos de máquinas.</a:t>
            </a:r>
            <a:endParaRPr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s" sz="915">
                <a:latin typeface="Roboto Mono"/>
                <a:ea typeface="Roboto Mono"/>
                <a:cs typeface="Roboto Mono"/>
                <a:sym typeface="Roboto Mono"/>
              </a:rPr>
              <a:t>¿En qué empresa podría utilizarse? </a:t>
            </a:r>
            <a:endParaRPr b="1"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-286703" lvl="0" marL="457200" rtl="0" algn="l">
              <a:spcBef>
                <a:spcPts val="1200"/>
              </a:spcBef>
              <a:spcAft>
                <a:spcPts val="0"/>
              </a:spcAft>
              <a:buSzPts val="915"/>
              <a:buFont typeface="Roboto Mono"/>
              <a:buChar char="●"/>
            </a:pPr>
            <a:r>
              <a:rPr lang="es" sz="915">
                <a:latin typeface="Roboto Mono"/>
                <a:ea typeface="Roboto Mono"/>
                <a:cs typeface="Roboto Mono"/>
                <a:sym typeface="Roboto Mono"/>
              </a:rPr>
              <a:t>Sector salud</a:t>
            </a:r>
            <a:endParaRPr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-286703" lvl="0" marL="457200" rtl="0" algn="l">
              <a:spcBef>
                <a:spcPts val="0"/>
              </a:spcBef>
              <a:spcAft>
                <a:spcPts val="0"/>
              </a:spcAft>
              <a:buSzPts val="915"/>
              <a:buFont typeface="Roboto Mono"/>
              <a:buChar char="●"/>
            </a:pPr>
            <a:r>
              <a:rPr lang="es" sz="915">
                <a:latin typeface="Roboto Mono"/>
                <a:ea typeface="Roboto Mono"/>
                <a:cs typeface="Roboto Mono"/>
                <a:sym typeface="Roboto Mono"/>
              </a:rPr>
              <a:t>Medios de comunicación y entretenimiento</a:t>
            </a:r>
            <a:endParaRPr sz="915">
              <a:latin typeface="Roboto Mono"/>
              <a:ea typeface="Roboto Mono"/>
              <a:cs typeface="Roboto Mono"/>
              <a:sym typeface="Roboto Mono"/>
            </a:endParaRPr>
          </a:p>
          <a:p>
            <a:pPr indent="-286703" lvl="0" marL="457200" rtl="0" algn="l">
              <a:spcBef>
                <a:spcPts val="0"/>
              </a:spcBef>
              <a:spcAft>
                <a:spcPts val="0"/>
              </a:spcAft>
              <a:buSzPts val="915"/>
              <a:buFont typeface="Roboto Mono"/>
              <a:buChar char="●"/>
            </a:pPr>
            <a:r>
              <a:rPr lang="es" sz="915">
                <a:latin typeface="Roboto Mono"/>
                <a:ea typeface="Roboto Mono"/>
                <a:cs typeface="Roboto Mono"/>
                <a:sym typeface="Roboto Mono"/>
              </a:rPr>
              <a:t>Legal y recursos humanos</a:t>
            </a:r>
            <a:endParaRPr sz="915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65436" r="0" t="17790"/>
          <a:stretch/>
        </p:blipFill>
        <p:spPr>
          <a:xfrm>
            <a:off x="6578100" y="2013975"/>
            <a:ext cx="1826325" cy="241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311700" y="445025"/>
            <a:ext cx="36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Etiquetas</a:t>
            </a:r>
            <a:endParaRPr/>
          </a:p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374675" y="1165225"/>
            <a:ext cx="8174100" cy="36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Roboto Mono"/>
                <a:ea typeface="Roboto Mono"/>
                <a:cs typeface="Roboto Mono"/>
                <a:sym typeface="Roboto Mono"/>
              </a:rPr>
              <a:t>En metadatos de archivos, las etiquetas o </a:t>
            </a:r>
            <a:r>
              <a:rPr i="1" lang="es" sz="1200">
                <a:latin typeface="Roboto Mono"/>
                <a:ea typeface="Roboto Mono"/>
                <a:cs typeface="Roboto Mono"/>
                <a:sym typeface="Roboto Mono"/>
              </a:rPr>
              <a:t>tags</a:t>
            </a:r>
            <a:r>
              <a:rPr lang="es" sz="1200">
                <a:latin typeface="Roboto Mono"/>
                <a:ea typeface="Roboto Mono"/>
                <a:cs typeface="Roboto Mono"/>
                <a:sym typeface="Roboto Mono"/>
              </a:rPr>
              <a:t>, son palabras claves asociadas a datos específicos que ayuda a describir los archivos que se encuentran más fácilmente en algún repositorio, sitio web o aplicación. Son datos que se pueden extraer fácil y rápidamente para poner en spreadsheets y bases de datos.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latin typeface="Roboto Mono Medium"/>
                <a:ea typeface="Roboto Mono Medium"/>
                <a:cs typeface="Roboto Mono Medium"/>
                <a:sym typeface="Roboto Mono Medium"/>
              </a:rPr>
              <a:t>Ejemplos:</a:t>
            </a:r>
            <a:endParaRPr sz="12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s" sz="1200">
                <a:latin typeface="Roboto Mono"/>
                <a:ea typeface="Roboto Mono"/>
                <a:cs typeface="Roboto Mono"/>
                <a:sym typeface="Roboto Mono"/>
              </a:rPr>
              <a:t>Fecha de creación del archivo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s" sz="1200">
                <a:latin typeface="Roboto Mono"/>
                <a:ea typeface="Roboto Mono"/>
                <a:cs typeface="Roboto Mono"/>
                <a:sym typeface="Roboto Mono"/>
              </a:rPr>
              <a:t>Autores asociados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s" sz="1200">
                <a:latin typeface="Roboto Mono"/>
                <a:ea typeface="Roboto Mono"/>
                <a:cs typeface="Roboto Mono"/>
                <a:sym typeface="Roboto Mono"/>
              </a:rPr>
              <a:t>Thumbnail/portadas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s" sz="1200">
                <a:latin typeface="Roboto Mono"/>
                <a:ea typeface="Roboto Mono"/>
                <a:cs typeface="Roboto Mono"/>
                <a:sym typeface="Roboto Mono"/>
              </a:rPr>
              <a:t>Títulos internos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s" sz="1200">
                <a:latin typeface="Roboto Mono"/>
                <a:ea typeface="Roboto Mono"/>
                <a:cs typeface="Roboto Mono"/>
                <a:sym typeface="Roboto Mono"/>
              </a:rPr>
              <a:t>Palabras claves misceláneas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s" sz="1200">
                <a:latin typeface="Roboto Mono"/>
                <a:ea typeface="Roboto Mono"/>
                <a:cs typeface="Roboto Mono"/>
                <a:sym typeface="Roboto Mono"/>
              </a:rPr>
              <a:t>“Amarillo”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s" sz="1200">
                <a:latin typeface="Roboto Mono"/>
                <a:ea typeface="Roboto Mono"/>
                <a:cs typeface="Roboto Mono"/>
                <a:sym typeface="Roboto Mono"/>
              </a:rPr>
              <a:t>“HTML”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850" y="2285425"/>
            <a:ext cx="4153899" cy="2407200"/>
          </a:xfrm>
          <a:prstGeom prst="rect">
            <a:avLst/>
          </a:prstGeom>
          <a:noFill/>
          <a:ln>
            <a:noFill/>
          </a:ln>
          <a:effectLst>
            <a:outerShdw blurRad="485775" rotWithShape="0" algn="bl" dir="3000000" dist="20955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950" y="857888"/>
            <a:ext cx="3713700" cy="3214026"/>
          </a:xfrm>
          <a:prstGeom prst="rect">
            <a:avLst/>
          </a:prstGeom>
          <a:noFill/>
          <a:ln>
            <a:noFill/>
          </a:ln>
          <a:effectLst>
            <a:outerShdw blurRad="485775" rotWithShape="0" algn="bl" dir="3180000" dist="209550">
              <a:srgbClr val="000000">
                <a:alpha val="50000"/>
              </a:srgbClr>
            </a:outerShdw>
          </a:effectLst>
        </p:spPr>
      </p:pic>
      <p:pic>
        <p:nvPicPr>
          <p:cNvPr id="169" name="Google Shape;16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475" y="1062373"/>
            <a:ext cx="4099751" cy="28051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2095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477825" y="361400"/>
            <a:ext cx="3514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rápida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351375" y="1243725"/>
            <a:ext cx="7344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Datos estructurados:</a:t>
            </a:r>
            <a:endParaRPr b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Mono"/>
              <a:buChar char="●"/>
            </a:pPr>
            <a:r>
              <a:rPr lang="es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Se organizan en filas y columnas.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Mono"/>
              <a:buChar char="●"/>
            </a:pPr>
            <a:r>
              <a:rPr lang="es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Ejemplo: Excel o SQL.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Mono"/>
              <a:buChar char="●"/>
            </a:pPr>
            <a:r>
              <a:rPr lang="es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Se usan en bancos, supermercados y empresas de ventas.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Datos semiestructurados:</a:t>
            </a:r>
            <a:endParaRPr b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Mono"/>
              <a:buChar char="●"/>
            </a:pPr>
            <a:r>
              <a:rPr lang="es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Se organizan con etiquetas o claves.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Mono"/>
              <a:buChar char="●"/>
            </a:pPr>
            <a:r>
              <a:rPr lang="es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Ejemplo: JSON, XML o etiquetas de música.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Mono"/>
              <a:buChar char="●"/>
            </a:pPr>
            <a:r>
              <a:rPr lang="es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Se usan en aplicaciones, tiendas en línea, bancos y gobierno.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Datos no estructurados:</a:t>
            </a:r>
            <a:endParaRPr b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Mono"/>
              <a:buChar char="●"/>
            </a:pPr>
            <a:r>
              <a:rPr lang="es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No tienen un orden fijo.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Mono"/>
              <a:buChar char="●"/>
            </a:pPr>
            <a:r>
              <a:rPr lang="es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Ejemplo: fotos, videos, audios, correos, PDFs y redes sociales.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Mono"/>
              <a:buChar char="●"/>
            </a:pPr>
            <a:r>
              <a:rPr lang="es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Se usan en hospitales, medios de comunicación, redes sociales y empresas.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2427450" y="845600"/>
            <a:ext cx="37854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Informativos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819150" y="1952150"/>
            <a:ext cx="7505700" cy="27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AutoNum type="arabicPeriod"/>
            </a:pPr>
            <a:r>
              <a:rPr b="1" lang="es" sz="1400">
                <a:latin typeface="Roboto Mono"/>
                <a:ea typeface="Roboto Mono"/>
                <a:cs typeface="Roboto Mono"/>
                <a:sym typeface="Roboto Mono"/>
              </a:rPr>
              <a:t>6 columnas:</a:t>
            </a:r>
            <a:r>
              <a:rPr lang="es" sz="1400">
                <a:latin typeface="Roboto Mono"/>
                <a:ea typeface="Roboto Mono"/>
                <a:cs typeface="Roboto Mono"/>
                <a:sym typeface="Roboto Mono"/>
              </a:rPr>
              <a:t>  Etiquetas  = A - F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AutoNum type="arabicPeriod"/>
            </a:pPr>
            <a:r>
              <a:rPr b="1" lang="es" sz="1400">
                <a:latin typeface="Roboto Mono"/>
                <a:ea typeface="Roboto Mono"/>
                <a:cs typeface="Roboto Mono"/>
                <a:sym typeface="Roboto Mono"/>
              </a:rPr>
              <a:t>Datos texto:</a:t>
            </a:r>
            <a:r>
              <a:rPr lang="es" sz="1400">
                <a:latin typeface="Roboto Mono"/>
                <a:ea typeface="Roboto Mono"/>
                <a:cs typeface="Roboto Mono"/>
                <a:sym typeface="Roboto Mono"/>
              </a:rPr>
              <a:t> Nombre Cliente (columna B) Ciudad (columna c)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AutoNum type="arabicPeriod"/>
            </a:pPr>
            <a:r>
              <a:rPr b="1" lang="es" sz="1400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lang="es" sz="1400">
                <a:latin typeface="Roboto Mono"/>
                <a:ea typeface="Roboto Mono"/>
                <a:cs typeface="Roboto Mono"/>
                <a:sym typeface="Roboto Mono"/>
              </a:rPr>
              <a:t>atos numéricos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AutoNum type="alphaLcPeriod"/>
            </a:pPr>
            <a:r>
              <a:rPr lang="es" sz="1400">
                <a:latin typeface="Roboto Mono"/>
                <a:ea typeface="Roboto Mono"/>
                <a:cs typeface="Roboto Mono"/>
                <a:sym typeface="Roboto Mono"/>
              </a:rPr>
              <a:t>Id Cliente: (columna A- Entero/código)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AutoNum type="alphaLcPeriod"/>
            </a:pPr>
            <a:r>
              <a:rPr lang="es" sz="1400">
                <a:latin typeface="Roboto Mono"/>
                <a:ea typeface="Roboto Mono"/>
                <a:cs typeface="Roboto Mono"/>
                <a:sym typeface="Roboto Mono"/>
              </a:rPr>
              <a:t>Cantidad de articulos:(columna D cantidad entera)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AutoNum type="alphaLcPeriod"/>
            </a:pPr>
            <a:r>
              <a:rPr lang="es" sz="1400">
                <a:latin typeface="Roboto Mono"/>
                <a:ea typeface="Roboto Mono"/>
                <a:cs typeface="Roboto Mono"/>
                <a:sym typeface="Roboto Mono"/>
              </a:rPr>
              <a:t>Precio promedio: (columna E-Decimal/Moneda)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2602500" y="498225"/>
            <a:ext cx="39390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rPr b="1" lang="es" sz="1208"/>
              <a:t>CONTROL CLIENTES Y VENTAS</a:t>
            </a:r>
            <a:endParaRPr b="1" sz="1208"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50" y="1213885"/>
            <a:ext cx="7986600" cy="352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