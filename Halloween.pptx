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f37bd0dc85_11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 name="Google Shape;51;g3f37bd0dc85_11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g3f37bd0dc85_11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37bd0dc85_1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 name="Google Shape;57;g3f37bd0dc85_1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g3f37bd0dc85_1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37bd0dc8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f37bd0dc8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g3f37bd0dc8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37bd0dc85_5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f37bd0dc85_5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f37bd0dc85_5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4313b95c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4313b95c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f4313b95c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37bd0dc85_1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37bd0dc85_1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f37bd0dc85_1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37bd0dc85_1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37bd0dc85_11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f37bd0dc85_11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4313b95ca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4313b95ca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f4313b95ca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37bd0dc85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37bd0dc85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f37bd0dc85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37bd0dc85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37bd0dc85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f37bd0dc85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37bd0dc8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37bd0dc85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37bd0dc85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37bd0dc85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37bd0dc85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f37bd0dc85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4313b95ca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4313b95ca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f4313b95ca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4.png"/><Relationship Id="rId10" Type="http://schemas.openxmlformats.org/officeDocument/2006/relationships/image" Target="../media/image18.png"/><Relationship Id="rId9" Type="http://schemas.openxmlformats.org/officeDocument/2006/relationships/image" Target="../media/image17.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13.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nrf.com/research-insights/holiday-data-and-trends/halloween/halloween-data-center" TargetMode="External"/><Relationship Id="rId4" Type="http://schemas.openxmlformats.org/officeDocument/2006/relationships/hyperlink" Target="https://www.circana.com/post/unwrapping-2025-halloween-candy-trend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023"/>
        </a:solidFill>
      </p:bgPr>
    </p:bg>
    <p:spTree>
      <p:nvGrpSpPr>
        <p:cNvPr id="15" name="Shape 15"/>
        <p:cNvGrpSpPr/>
        <p:nvPr/>
      </p:nvGrpSpPr>
      <p:grpSpPr>
        <a:xfrm>
          <a:off x="0" y="0"/>
          <a:ext cx="0" cy="0"/>
          <a:chOff x="0" y="0"/>
          <a:chExt cx="0" cy="0"/>
        </a:xfrm>
      </p:grpSpPr>
      <p:sp>
        <p:nvSpPr>
          <p:cNvPr id="16" name="Google Shape;16;p3"/>
          <p:cNvSpPr/>
          <p:nvPr/>
        </p:nvSpPr>
        <p:spPr>
          <a:xfrm>
            <a:off x="9509760" y="548640"/>
            <a:ext cx="2103120" cy="2103120"/>
          </a:xfrm>
          <a:prstGeom prst="ellipse">
            <a:avLst/>
          </a:prstGeom>
          <a:solidFill>
            <a:srgbClr val="FF7518">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moon_orange.png" id="17" name="Google Shape;17;p3"/>
          <p:cNvPicPr preferRelativeResize="0"/>
          <p:nvPr/>
        </p:nvPicPr>
        <p:blipFill rotWithShape="1">
          <a:blip r:embed="rId3">
            <a:alphaModFix/>
          </a:blip>
          <a:srcRect b="0" l="0" r="0" t="0"/>
          <a:stretch/>
        </p:blipFill>
        <p:spPr>
          <a:xfrm>
            <a:off x="10104120" y="1143000"/>
            <a:ext cx="914400" cy="914400"/>
          </a:xfrm>
          <a:prstGeom prst="rect">
            <a:avLst/>
          </a:prstGeom>
          <a:noFill/>
          <a:ln>
            <a:noFill/>
          </a:ln>
        </p:spPr>
      </p:pic>
      <p:pic>
        <p:nvPicPr>
          <p:cNvPr descr="icon_batwing_white.png" id="18" name="Google Shape;18;p3"/>
          <p:cNvPicPr preferRelativeResize="0"/>
          <p:nvPr/>
        </p:nvPicPr>
        <p:blipFill rotWithShape="1">
          <a:blip r:embed="rId4">
            <a:alphaModFix amt="45000"/>
          </a:blip>
          <a:srcRect b="0" l="0" r="0" t="0"/>
          <a:stretch/>
        </p:blipFill>
        <p:spPr>
          <a:xfrm>
            <a:off x="914400" y="822960"/>
            <a:ext cx="457200" cy="457200"/>
          </a:xfrm>
          <a:prstGeom prst="rect">
            <a:avLst/>
          </a:prstGeom>
          <a:noFill/>
          <a:ln>
            <a:noFill/>
          </a:ln>
        </p:spPr>
      </p:pic>
      <p:pic>
        <p:nvPicPr>
          <p:cNvPr descr="icon_batwing_white.png" id="19" name="Google Shape;19;p3"/>
          <p:cNvPicPr preferRelativeResize="0"/>
          <p:nvPr/>
        </p:nvPicPr>
        <p:blipFill rotWithShape="1">
          <a:blip r:embed="rId4">
            <a:alphaModFix amt="40000"/>
          </a:blip>
          <a:srcRect b="0" l="0" r="0" t="0"/>
          <a:stretch/>
        </p:blipFill>
        <p:spPr>
          <a:xfrm rot="900000">
            <a:off x="1737360" y="1371600"/>
            <a:ext cx="320040" cy="320040"/>
          </a:xfrm>
          <a:prstGeom prst="rect">
            <a:avLst/>
          </a:prstGeom>
          <a:noFill/>
          <a:ln>
            <a:noFill/>
          </a:ln>
        </p:spPr>
      </p:pic>
      <p:pic>
        <p:nvPicPr>
          <p:cNvPr descr="icon_batwing_white.png" id="20" name="Google Shape;20;p3"/>
          <p:cNvPicPr preferRelativeResize="0"/>
          <p:nvPr/>
        </p:nvPicPr>
        <p:blipFill rotWithShape="1">
          <a:blip r:embed="rId4">
            <a:alphaModFix amt="40000"/>
          </a:blip>
          <a:srcRect b="0" l="0" r="0" t="0"/>
          <a:stretch/>
        </p:blipFill>
        <p:spPr>
          <a:xfrm rot="-600000">
            <a:off x="8503920" y="3017520"/>
            <a:ext cx="365760" cy="365760"/>
          </a:xfrm>
          <a:prstGeom prst="rect">
            <a:avLst/>
          </a:prstGeom>
          <a:noFill/>
          <a:ln>
            <a:noFill/>
          </a:ln>
        </p:spPr>
      </p:pic>
      <p:pic>
        <p:nvPicPr>
          <p:cNvPr descr="icon_pumpkin_orange.png" id="21" name="Google Shape;21;p3"/>
          <p:cNvPicPr preferRelativeResize="0"/>
          <p:nvPr/>
        </p:nvPicPr>
        <p:blipFill rotWithShape="1">
          <a:blip r:embed="rId5">
            <a:alphaModFix/>
          </a:blip>
          <a:srcRect b="0" l="0" r="0" t="0"/>
          <a:stretch/>
        </p:blipFill>
        <p:spPr>
          <a:xfrm>
            <a:off x="822960" y="4114800"/>
            <a:ext cx="1737360" cy="1737360"/>
          </a:xfrm>
          <a:prstGeom prst="rect">
            <a:avLst/>
          </a:prstGeom>
          <a:noFill/>
          <a:ln>
            <a:noFill/>
          </a:ln>
        </p:spPr>
      </p:pic>
      <p:pic>
        <p:nvPicPr>
          <p:cNvPr descr="icon_ghost_purple.png" id="22" name="Google Shape;22;p3"/>
          <p:cNvPicPr preferRelativeResize="0"/>
          <p:nvPr/>
        </p:nvPicPr>
        <p:blipFill rotWithShape="1">
          <a:blip r:embed="rId6">
            <a:alphaModFix/>
          </a:blip>
          <a:srcRect b="0" l="0" r="0" t="0"/>
          <a:stretch/>
        </p:blipFill>
        <p:spPr>
          <a:xfrm>
            <a:off x="9692640" y="4480560"/>
            <a:ext cx="1371600" cy="1371600"/>
          </a:xfrm>
          <a:prstGeom prst="rect">
            <a:avLst/>
          </a:prstGeom>
          <a:noFill/>
          <a:ln>
            <a:noFill/>
          </a:ln>
        </p:spPr>
      </p:pic>
      <p:sp>
        <p:nvSpPr>
          <p:cNvPr id="23" name="Google Shape;23;p3"/>
          <p:cNvSpPr/>
          <p:nvPr/>
        </p:nvSpPr>
        <p:spPr>
          <a:xfrm>
            <a:off x="822950" y="1727600"/>
            <a:ext cx="10725300" cy="202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mbria"/>
              <a:buNone/>
            </a:pPr>
            <a:r>
              <a:rPr b="1" i="0" lang="en-US" sz="6400" u="none" cap="none" strike="noStrike">
                <a:solidFill>
                  <a:srgbClr val="FFFFFF"/>
                </a:solidFill>
                <a:latin typeface="Cambria"/>
                <a:ea typeface="Cambria"/>
                <a:cs typeface="Cambria"/>
                <a:sym typeface="Cambria"/>
              </a:rPr>
              <a:t>H</a:t>
            </a:r>
            <a:r>
              <a:rPr b="1" lang="en-US" sz="6400">
                <a:solidFill>
                  <a:srgbClr val="FFFFFF"/>
                </a:solidFill>
                <a:latin typeface="Cambria"/>
                <a:ea typeface="Cambria"/>
                <a:cs typeface="Cambria"/>
                <a:sym typeface="Cambria"/>
              </a:rPr>
              <a:t>alloween</a:t>
            </a:r>
            <a:r>
              <a:rPr b="1" i="0" lang="en-US" sz="6400" u="none" cap="none" strike="noStrike">
                <a:solidFill>
                  <a:srgbClr val="FFFFFF"/>
                </a:solidFill>
                <a:latin typeface="Cambria"/>
                <a:ea typeface="Cambria"/>
                <a:cs typeface="Cambria"/>
                <a:sym typeface="Cambria"/>
              </a:rPr>
              <a:t> vs Mascaradas</a:t>
            </a:r>
            <a:endParaRPr b="0" i="0" sz="6400" u="none" cap="none" strike="noStrike">
              <a:solidFill>
                <a:schemeClr val="dk1"/>
              </a:solidFill>
              <a:latin typeface="Calibri"/>
              <a:ea typeface="Calibri"/>
              <a:cs typeface="Calibri"/>
              <a:sym typeface="Calibri"/>
            </a:endParaRPr>
          </a:p>
        </p:txBody>
      </p:sp>
      <p:sp>
        <p:nvSpPr>
          <p:cNvPr id="24" name="Google Shape;24;p3"/>
          <p:cNvSpPr/>
          <p:nvPr/>
        </p:nvSpPr>
        <p:spPr>
          <a:xfrm>
            <a:off x="868680" y="3611880"/>
            <a:ext cx="7498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4EDD"/>
              </a:buClr>
              <a:buSzPts val="1800"/>
              <a:buFont typeface="Calibri"/>
              <a:buNone/>
            </a:pPr>
            <a:r>
              <a:rPr i="1" lang="en-US" sz="1800">
                <a:solidFill>
                  <a:srgbClr val="9D4EDD"/>
                </a:solidFill>
                <a:latin typeface="Calibri"/>
                <a:ea typeface="Calibri"/>
                <a:cs typeface="Calibri"/>
                <a:sym typeface="Calibri"/>
              </a:rPr>
              <a:t>Comportamiendo del consumidor</a:t>
            </a:r>
            <a:endParaRPr b="0" i="0" sz="1800" u="none" cap="none" strike="noStrike">
              <a:solidFill>
                <a:schemeClr val="dk1"/>
              </a:solidFill>
              <a:latin typeface="Calibri"/>
              <a:ea typeface="Calibri"/>
              <a:cs typeface="Calibri"/>
              <a:sym typeface="Calibri"/>
            </a:endParaRPr>
          </a:p>
        </p:txBody>
      </p:sp>
      <p:sp>
        <p:nvSpPr>
          <p:cNvPr id="25" name="Google Shape;25;p3"/>
          <p:cNvSpPr/>
          <p:nvPr/>
        </p:nvSpPr>
        <p:spPr>
          <a:xfrm>
            <a:off x="822950" y="6111250"/>
            <a:ext cx="3657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BFE0"/>
              </a:buClr>
              <a:buSzPts val="1400"/>
              <a:buFont typeface="Calibri"/>
              <a:buNone/>
            </a:pPr>
            <a:r>
              <a:rPr b="0" i="0" lang="en-US" sz="1400" u="none" cap="none" strike="noStrike">
                <a:solidFill>
                  <a:srgbClr val="C9BFE0"/>
                </a:solidFill>
                <a:latin typeface="Calibri"/>
                <a:ea typeface="Calibri"/>
                <a:cs typeface="Calibri"/>
                <a:sym typeface="Calibri"/>
              </a:rPr>
              <a:t>31 de octubre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0" name="Shape 30"/>
        <p:cNvGrpSpPr/>
        <p:nvPr/>
      </p:nvGrpSpPr>
      <p:grpSpPr>
        <a:xfrm>
          <a:off x="0" y="0"/>
          <a:ext cx="0" cy="0"/>
          <a:chOff x="0" y="0"/>
          <a:chExt cx="0" cy="0"/>
        </a:xfrm>
      </p:grpSpPr>
      <p:sp>
        <p:nvSpPr>
          <p:cNvPr id="31" name="Google Shape;31;p4"/>
          <p:cNvSpPr/>
          <p:nvPr/>
        </p:nvSpPr>
        <p:spPr>
          <a:xfrm>
            <a:off x="640080" y="50292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3400"/>
              <a:buFont typeface="Cambria"/>
              <a:buNone/>
            </a:pPr>
            <a:r>
              <a:rPr b="1" i="0" lang="en-US" sz="3400" u="none" cap="none" strike="noStrike">
                <a:solidFill>
                  <a:srgbClr val="241533"/>
                </a:solidFill>
                <a:latin typeface="Cambria"/>
                <a:ea typeface="Cambria"/>
                <a:cs typeface="Cambria"/>
                <a:sym typeface="Cambria"/>
              </a:rPr>
              <a:t>Origen e historia de Hall</a:t>
            </a:r>
            <a:r>
              <a:rPr b="1" lang="en-US" sz="3400">
                <a:solidFill>
                  <a:srgbClr val="241533"/>
                </a:solidFill>
                <a:latin typeface="Cambria"/>
                <a:ea typeface="Cambria"/>
                <a:cs typeface="Cambria"/>
                <a:sym typeface="Cambria"/>
              </a:rPr>
              <a:t>oween</a:t>
            </a:r>
            <a:endParaRPr b="0" i="0" sz="3400" u="none" cap="none" strike="noStrike">
              <a:solidFill>
                <a:schemeClr val="dk1"/>
              </a:solidFill>
              <a:latin typeface="Calibri"/>
              <a:ea typeface="Calibri"/>
              <a:cs typeface="Calibri"/>
              <a:sym typeface="Calibri"/>
            </a:endParaRPr>
          </a:p>
        </p:txBody>
      </p:sp>
      <p:sp>
        <p:nvSpPr>
          <p:cNvPr id="32" name="Google Shape;32;p4"/>
          <p:cNvSpPr/>
          <p:nvPr/>
        </p:nvSpPr>
        <p:spPr>
          <a:xfrm>
            <a:off x="685800" y="1737360"/>
            <a:ext cx="411480" cy="411480"/>
          </a:xfrm>
          <a:prstGeom prst="ellipse">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85800" y="17373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1280160" y="169164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Samhain celta</a:t>
            </a:r>
            <a:endParaRPr b="0" i="0" sz="1600" u="none" cap="none" strike="noStrike">
              <a:solidFill>
                <a:schemeClr val="dk1"/>
              </a:solidFill>
              <a:latin typeface="Calibri"/>
              <a:ea typeface="Calibri"/>
              <a:cs typeface="Calibri"/>
              <a:sym typeface="Calibri"/>
            </a:endParaRPr>
          </a:p>
        </p:txBody>
      </p:sp>
      <p:sp>
        <p:nvSpPr>
          <p:cNvPr id="35" name="Google Shape;35;p4"/>
          <p:cNvSpPr/>
          <p:nvPr/>
        </p:nvSpPr>
        <p:spPr>
          <a:xfrm>
            <a:off x="1280160" y="2039112"/>
            <a:ext cx="539496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250"/>
              <a:buFont typeface="Calibri"/>
              <a:buNone/>
            </a:pPr>
            <a:r>
              <a:rPr b="0" i="0" lang="en-US" sz="1250" u="none" cap="none" strike="noStrike">
                <a:solidFill>
                  <a:srgbClr val="6B6070"/>
                </a:solidFill>
                <a:latin typeface="Calibri"/>
                <a:ea typeface="Calibri"/>
                <a:cs typeface="Calibri"/>
                <a:sym typeface="Calibri"/>
              </a:rPr>
              <a:t>Hace mas de 2000 anos, los celtas celebraban Samhain: el fin de la cosecha y el momento en que el velo entre vivos y muertos se hacia mas delgado.</a:t>
            </a:r>
            <a:endParaRPr b="0" i="0" sz="1250" u="none" cap="none" strike="noStrike">
              <a:solidFill>
                <a:schemeClr val="dk1"/>
              </a:solidFill>
              <a:latin typeface="Calibri"/>
              <a:ea typeface="Calibri"/>
              <a:cs typeface="Calibri"/>
              <a:sym typeface="Calibri"/>
            </a:endParaRPr>
          </a:p>
        </p:txBody>
      </p:sp>
      <p:sp>
        <p:nvSpPr>
          <p:cNvPr id="36" name="Google Shape;36;p4"/>
          <p:cNvSpPr/>
          <p:nvPr/>
        </p:nvSpPr>
        <p:spPr>
          <a:xfrm>
            <a:off x="685800" y="3154680"/>
            <a:ext cx="411480" cy="411480"/>
          </a:xfrm>
          <a:prstGeom prst="ellipse">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685800" y="31546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8" name="Google Shape;38;p4"/>
          <p:cNvSpPr/>
          <p:nvPr/>
        </p:nvSpPr>
        <p:spPr>
          <a:xfrm>
            <a:off x="1280160" y="310896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Influencia cristiana</a:t>
            </a:r>
            <a:endParaRPr b="0" i="0" sz="1600" u="none" cap="none" strike="noStrike">
              <a:solidFill>
                <a:schemeClr val="dk1"/>
              </a:solidFill>
              <a:latin typeface="Calibri"/>
              <a:ea typeface="Calibri"/>
              <a:cs typeface="Calibri"/>
              <a:sym typeface="Calibri"/>
            </a:endParaRPr>
          </a:p>
        </p:txBody>
      </p:sp>
      <p:sp>
        <p:nvSpPr>
          <p:cNvPr id="39" name="Google Shape;39;p4"/>
          <p:cNvSpPr/>
          <p:nvPr/>
        </p:nvSpPr>
        <p:spPr>
          <a:xfrm>
            <a:off x="1280160" y="3456432"/>
            <a:ext cx="539496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250"/>
              <a:buFont typeface="Calibri"/>
              <a:buNone/>
            </a:pPr>
            <a:r>
              <a:rPr b="0" i="0" lang="en-US" sz="1250" u="none" cap="none" strike="noStrike">
                <a:solidFill>
                  <a:srgbClr val="6B6070"/>
                </a:solidFill>
                <a:latin typeface="Calibri"/>
                <a:ea typeface="Calibri"/>
                <a:cs typeface="Calibri"/>
                <a:sym typeface="Calibri"/>
              </a:rPr>
              <a:t>En el siglo VIII la Iglesia situo el Dia de Todos los Santos el 1 de noviembre. La noche anterior se llamo All Hallows Eve, origen del nombre Halloween.</a:t>
            </a:r>
            <a:endParaRPr b="0" i="0" sz="1250" u="none" cap="none" strike="noStrike">
              <a:solidFill>
                <a:schemeClr val="dk1"/>
              </a:solidFill>
              <a:latin typeface="Calibri"/>
              <a:ea typeface="Calibri"/>
              <a:cs typeface="Calibri"/>
              <a:sym typeface="Calibri"/>
            </a:endParaRPr>
          </a:p>
        </p:txBody>
      </p:sp>
      <p:sp>
        <p:nvSpPr>
          <p:cNvPr id="40" name="Google Shape;40;p4"/>
          <p:cNvSpPr/>
          <p:nvPr/>
        </p:nvSpPr>
        <p:spPr>
          <a:xfrm>
            <a:off x="685800" y="4572000"/>
            <a:ext cx="411480" cy="411480"/>
          </a:xfrm>
          <a:prstGeom prst="ellipse">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85800" y="45720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2" name="Google Shape;42;p4"/>
          <p:cNvSpPr/>
          <p:nvPr/>
        </p:nvSpPr>
        <p:spPr>
          <a:xfrm>
            <a:off x="1280160" y="452628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Llega a America</a:t>
            </a:r>
            <a:endParaRPr b="0" i="0" sz="1600" u="none" cap="none" strike="noStrike">
              <a:solidFill>
                <a:schemeClr val="dk1"/>
              </a:solidFill>
              <a:latin typeface="Calibri"/>
              <a:ea typeface="Calibri"/>
              <a:cs typeface="Calibri"/>
              <a:sym typeface="Calibri"/>
            </a:endParaRPr>
          </a:p>
        </p:txBody>
      </p:sp>
      <p:sp>
        <p:nvSpPr>
          <p:cNvPr id="43" name="Google Shape;43;p4"/>
          <p:cNvSpPr/>
          <p:nvPr/>
        </p:nvSpPr>
        <p:spPr>
          <a:xfrm>
            <a:off x="1280160" y="4873752"/>
            <a:ext cx="539496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250"/>
              <a:buFont typeface="Calibri"/>
              <a:buNone/>
            </a:pPr>
            <a:r>
              <a:rPr b="0" i="0" lang="en-US" sz="1250" u="none" cap="none" strike="noStrike">
                <a:solidFill>
                  <a:srgbClr val="6B6070"/>
                </a:solidFill>
                <a:latin typeface="Calibri"/>
                <a:ea typeface="Calibri"/>
                <a:cs typeface="Calibri"/>
                <a:sym typeface="Calibri"/>
              </a:rPr>
              <a:t>Los inmigrantes irlandeses y escoceses llevaron la tradicion a Estados Unidos en el siglo XIX, donde se transformo en la fiesta popular que conocemos hoy.</a:t>
            </a:r>
            <a:endParaRPr b="0" i="0" sz="1250" u="none" cap="none" strike="noStrike">
              <a:solidFill>
                <a:schemeClr val="dk1"/>
              </a:solidFill>
              <a:latin typeface="Calibri"/>
              <a:ea typeface="Calibri"/>
              <a:cs typeface="Calibri"/>
              <a:sym typeface="Calibri"/>
            </a:endParaRPr>
          </a:p>
        </p:txBody>
      </p:sp>
      <p:sp>
        <p:nvSpPr>
          <p:cNvPr id="44" name="Google Shape;44;p4"/>
          <p:cNvSpPr/>
          <p:nvPr/>
        </p:nvSpPr>
        <p:spPr>
          <a:xfrm>
            <a:off x="7360920" y="502920"/>
            <a:ext cx="4160520" cy="5852160"/>
          </a:xfrm>
          <a:prstGeom prst="rect">
            <a:avLst/>
          </a:prstGeom>
          <a:solidFill>
            <a:srgbClr val="1B1023"/>
          </a:solidFill>
          <a:ln>
            <a:noFill/>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pumpkin_white.png" id="45" name="Google Shape;45;p4"/>
          <p:cNvPicPr preferRelativeResize="0"/>
          <p:nvPr/>
        </p:nvPicPr>
        <p:blipFill rotWithShape="1">
          <a:blip r:embed="rId3">
            <a:alphaModFix/>
          </a:blip>
          <a:srcRect b="0" l="0" r="0" t="0"/>
          <a:stretch/>
        </p:blipFill>
        <p:spPr>
          <a:xfrm>
            <a:off x="8732520" y="1097280"/>
            <a:ext cx="1463040" cy="1463040"/>
          </a:xfrm>
          <a:prstGeom prst="rect">
            <a:avLst/>
          </a:prstGeom>
          <a:noFill/>
          <a:ln>
            <a:noFill/>
          </a:ln>
        </p:spPr>
      </p:pic>
      <p:sp>
        <p:nvSpPr>
          <p:cNvPr id="46" name="Google Shape;46;p4"/>
          <p:cNvSpPr/>
          <p:nvPr/>
        </p:nvSpPr>
        <p:spPr>
          <a:xfrm>
            <a:off x="7680960" y="288036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518"/>
              </a:buClr>
              <a:buSzPts val="1400"/>
              <a:buFont typeface="Calibri"/>
              <a:buNone/>
            </a:pPr>
            <a:r>
              <a:rPr b="1" i="0" lang="en-US" sz="1400" u="none" cap="none" strike="noStrike">
                <a:solidFill>
                  <a:srgbClr val="FF7518"/>
                </a:solidFill>
                <a:latin typeface="Calibri"/>
                <a:ea typeface="Calibri"/>
                <a:cs typeface="Calibri"/>
                <a:sym typeface="Calibri"/>
              </a:rPr>
              <a:t>Sabias que...</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7680960" y="3291840"/>
            <a:ext cx="356616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8DFF5"/>
              </a:buClr>
              <a:buSzPts val="1300"/>
              <a:buFont typeface="Calibri"/>
              <a:buNone/>
            </a:pPr>
            <a:r>
              <a:rPr b="0" i="0" lang="en-US" sz="1300" u="none" cap="none" strike="noStrike">
                <a:solidFill>
                  <a:srgbClr val="E8DFF5"/>
                </a:solidFill>
                <a:latin typeface="Calibri"/>
                <a:ea typeface="Calibri"/>
                <a:cs typeface="Calibri"/>
                <a:sym typeface="Calibri"/>
              </a:rPr>
              <a:t>Las primeras linternas talladas se hacian con nabos y patatas en Irlanda y Escocia. Al llegar a America, la calabaza -mas grande y facil de tallar- las reemplazo.</a:t>
            </a:r>
            <a:endParaRPr b="0" i="0" sz="1300" u="none" cap="none" strike="noStrike">
              <a:solidFill>
                <a:schemeClr val="dk1"/>
              </a:solidFill>
              <a:latin typeface="Calibri"/>
              <a:ea typeface="Calibri"/>
              <a:cs typeface="Calibri"/>
              <a:sym typeface="Calibri"/>
            </a:endParaRPr>
          </a:p>
        </p:txBody>
      </p:sp>
      <p:sp>
        <p:nvSpPr>
          <p:cNvPr id="48" name="Google Shape;48;p4"/>
          <p:cNvSpPr/>
          <p:nvPr/>
        </p:nvSpPr>
        <p:spPr>
          <a:xfrm>
            <a:off x="7680960" y="576072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4EDD"/>
              </a:buClr>
              <a:buSzPts val="1100"/>
              <a:buFont typeface="Calibri"/>
              <a:buNone/>
            </a:pPr>
            <a:r>
              <a:rPr b="0" i="1" lang="en-US" sz="1100" u="none" cap="none" strike="noStrike">
                <a:solidFill>
                  <a:srgbClr val="9D4EDD"/>
                </a:solidFill>
                <a:latin typeface="Calibri"/>
                <a:ea typeface="Calibri"/>
                <a:cs typeface="Calibri"/>
                <a:sym typeface="Calibri"/>
              </a:rPr>
              <a:t>Jack-o-lantern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5"/>
          <p:cNvPicPr preferRelativeResize="0"/>
          <p:nvPr/>
        </p:nvPicPr>
        <p:blipFill>
          <a:blip r:embed="rId3">
            <a:alphaModFix/>
          </a:blip>
          <a:stretch>
            <a:fillRect/>
          </a:stretch>
        </p:blipFill>
        <p:spPr>
          <a:xfrm>
            <a:off x="0" y="0"/>
            <a:ext cx="12191999"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6"/>
          <p:cNvPicPr preferRelativeResize="0"/>
          <p:nvPr/>
        </p:nvPicPr>
        <p:blipFill>
          <a:blip r:embed="rId3">
            <a:alphaModFix/>
          </a:blip>
          <a:stretch>
            <a:fillRect/>
          </a:stretch>
        </p:blipFill>
        <p:spPr>
          <a:xfrm>
            <a:off x="87375" y="0"/>
            <a:ext cx="12104625"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5" name="Shape 65"/>
        <p:cNvGrpSpPr/>
        <p:nvPr/>
      </p:nvGrpSpPr>
      <p:grpSpPr>
        <a:xfrm>
          <a:off x="0" y="0"/>
          <a:ext cx="0" cy="0"/>
          <a:chOff x="0" y="0"/>
          <a:chExt cx="0" cy="0"/>
        </a:xfrm>
      </p:grpSpPr>
      <p:sp>
        <p:nvSpPr>
          <p:cNvPr id="66" name="Google Shape;66;p7"/>
          <p:cNvSpPr/>
          <p:nvPr/>
        </p:nvSpPr>
        <p:spPr>
          <a:xfrm>
            <a:off x="640080" y="502920"/>
            <a:ext cx="7315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3400"/>
              <a:buFont typeface="Cambria"/>
              <a:buNone/>
            </a:pPr>
            <a:r>
              <a:rPr b="1" lang="en-US" sz="3400">
                <a:solidFill>
                  <a:srgbClr val="241533"/>
                </a:solidFill>
                <a:latin typeface="Cambria"/>
                <a:ea typeface="Cambria"/>
                <a:cs typeface="Cambria"/>
                <a:sym typeface="Cambria"/>
              </a:rPr>
              <a:t>Orígenes</a:t>
            </a:r>
            <a:r>
              <a:rPr b="1" lang="en-US" sz="3400">
                <a:solidFill>
                  <a:srgbClr val="241533"/>
                </a:solidFill>
                <a:latin typeface="Cambria"/>
                <a:ea typeface="Cambria"/>
                <a:cs typeface="Cambria"/>
                <a:sym typeface="Cambria"/>
              </a:rPr>
              <a:t> de las mascaradas</a:t>
            </a:r>
            <a:endParaRPr b="0" i="0" sz="3400" u="none" cap="none" strike="noStrike">
              <a:solidFill>
                <a:schemeClr val="dk1"/>
              </a:solidFill>
              <a:latin typeface="Calibri"/>
              <a:ea typeface="Calibri"/>
              <a:cs typeface="Calibri"/>
              <a:sym typeface="Calibri"/>
            </a:endParaRPr>
          </a:p>
        </p:txBody>
      </p:sp>
      <p:sp>
        <p:nvSpPr>
          <p:cNvPr id="67" name="Google Shape;67;p7"/>
          <p:cNvSpPr/>
          <p:nvPr/>
        </p:nvSpPr>
        <p:spPr>
          <a:xfrm>
            <a:off x="685800" y="1737360"/>
            <a:ext cx="411600" cy="411600"/>
          </a:xfrm>
          <a:prstGeom prst="ellipse">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685800" y="173736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69" name="Google Shape;69;p7"/>
          <p:cNvSpPr/>
          <p:nvPr/>
        </p:nvSpPr>
        <p:spPr>
          <a:xfrm>
            <a:off x="1280160" y="1691640"/>
            <a:ext cx="5394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Mezcla entre culturas</a:t>
            </a:r>
            <a:endParaRPr b="0" i="0" sz="1600" u="none" cap="none" strike="noStrike">
              <a:solidFill>
                <a:schemeClr val="dk1"/>
              </a:solidFill>
              <a:latin typeface="Calibri"/>
              <a:ea typeface="Calibri"/>
              <a:cs typeface="Calibri"/>
              <a:sym typeface="Calibri"/>
            </a:endParaRPr>
          </a:p>
        </p:txBody>
      </p:sp>
      <p:sp>
        <p:nvSpPr>
          <p:cNvPr id="70" name="Google Shape;70;p7"/>
          <p:cNvSpPr/>
          <p:nvPr/>
        </p:nvSpPr>
        <p:spPr>
          <a:xfrm>
            <a:off x="1280150" y="2039096"/>
            <a:ext cx="5575800" cy="923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250"/>
              <a:buFont typeface="Calibri"/>
              <a:buNone/>
            </a:pPr>
            <a:r>
              <a:rPr lang="en-US" sz="1250">
                <a:solidFill>
                  <a:srgbClr val="6B6070"/>
                </a:solidFill>
                <a:latin typeface="Calibri"/>
                <a:ea typeface="Calibri"/>
                <a:cs typeface="Calibri"/>
                <a:sym typeface="Calibri"/>
              </a:rPr>
              <a:t>El uso de las máscaras era muy generalizado en el continente Americano ya para la llegada de los conquistadores españoles, donde se representaban con ellas tanto figuras zoomorfas como antropomorfas, pero la mayoría de la tradición y cultura de máscaras indígenas en Costa Rica se perdió tras la colonización. </a:t>
            </a:r>
            <a:endParaRPr b="0" i="0" sz="1250" u="none" cap="none" strike="noStrike">
              <a:solidFill>
                <a:schemeClr val="dk1"/>
              </a:solidFill>
              <a:latin typeface="Calibri"/>
              <a:ea typeface="Calibri"/>
              <a:cs typeface="Calibri"/>
              <a:sym typeface="Calibri"/>
            </a:endParaRPr>
          </a:p>
        </p:txBody>
      </p:sp>
      <p:sp>
        <p:nvSpPr>
          <p:cNvPr id="71" name="Google Shape;71;p7"/>
          <p:cNvSpPr/>
          <p:nvPr/>
        </p:nvSpPr>
        <p:spPr>
          <a:xfrm>
            <a:off x="685800" y="3154680"/>
            <a:ext cx="411600" cy="411600"/>
          </a:xfrm>
          <a:prstGeom prst="ellipse">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685800" y="315468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73" name="Google Shape;73;p7"/>
          <p:cNvSpPr/>
          <p:nvPr/>
        </p:nvSpPr>
        <p:spPr>
          <a:xfrm>
            <a:off x="1280160" y="3108960"/>
            <a:ext cx="5394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Evolución</a:t>
            </a:r>
            <a:endParaRPr b="0" i="0" sz="1600" u="none" cap="none" strike="noStrike">
              <a:solidFill>
                <a:schemeClr val="dk1"/>
              </a:solidFill>
              <a:latin typeface="Calibri"/>
              <a:ea typeface="Calibri"/>
              <a:cs typeface="Calibri"/>
              <a:sym typeface="Calibri"/>
            </a:endParaRPr>
          </a:p>
        </p:txBody>
      </p:sp>
      <p:sp>
        <p:nvSpPr>
          <p:cNvPr id="74" name="Google Shape;74;p7"/>
          <p:cNvSpPr/>
          <p:nvPr/>
        </p:nvSpPr>
        <p:spPr>
          <a:xfrm>
            <a:off x="1280150" y="3456422"/>
            <a:ext cx="5394900" cy="923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250">
                <a:solidFill>
                  <a:srgbClr val="6B6070"/>
                </a:solidFill>
                <a:latin typeface="Calibri"/>
                <a:ea typeface="Calibri"/>
                <a:cs typeface="Calibri"/>
                <a:sym typeface="Calibri"/>
              </a:rPr>
              <a:t>Las mascaradas se empezaron a realizar durante la época colonial cuando se</a:t>
            </a:r>
            <a:endParaRPr sz="1250">
              <a:solidFill>
                <a:srgbClr val="6B6070"/>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50">
                <a:solidFill>
                  <a:srgbClr val="6B6070"/>
                </a:solidFill>
                <a:latin typeface="Calibri"/>
                <a:ea typeface="Calibri"/>
                <a:cs typeface="Calibri"/>
                <a:sym typeface="Calibri"/>
              </a:rPr>
              <a:t>organizaban las fiestas patronales y los turnos de los pueblos. Hoy, la mascarada</a:t>
            </a:r>
            <a:endParaRPr sz="1250">
              <a:solidFill>
                <a:srgbClr val="6B6070"/>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50">
                <a:solidFill>
                  <a:srgbClr val="6B6070"/>
                </a:solidFill>
                <a:latin typeface="Calibri"/>
                <a:ea typeface="Calibri"/>
                <a:cs typeface="Calibri"/>
                <a:sym typeface="Calibri"/>
              </a:rPr>
              <a:t>es el Símbolo Nacional número diecisiete de Costa Rica, y nació para celebrar las</a:t>
            </a:r>
            <a:endParaRPr sz="1250">
              <a:solidFill>
                <a:srgbClr val="6B6070"/>
              </a:solidFill>
              <a:latin typeface="Calibri"/>
              <a:ea typeface="Calibri"/>
              <a:cs typeface="Calibri"/>
              <a:sym typeface="Calibri"/>
            </a:endParaRPr>
          </a:p>
          <a:p>
            <a:pPr indent="0" lvl="0" marL="0" marR="0" rtl="0" algn="l">
              <a:lnSpc>
                <a:spcPct val="115000"/>
              </a:lnSpc>
              <a:spcBef>
                <a:spcPts val="0"/>
              </a:spcBef>
              <a:spcAft>
                <a:spcPts val="0"/>
              </a:spcAft>
              <a:buClr>
                <a:srgbClr val="6B6070"/>
              </a:buClr>
              <a:buSzPts val="1250"/>
              <a:buFont typeface="Calibri"/>
              <a:buNone/>
            </a:pPr>
            <a:r>
              <a:rPr lang="en-US" sz="1250">
                <a:solidFill>
                  <a:srgbClr val="6B6070"/>
                </a:solidFill>
                <a:latin typeface="Calibri"/>
                <a:ea typeface="Calibri"/>
                <a:cs typeface="Calibri"/>
                <a:sym typeface="Calibri"/>
              </a:rPr>
              <a:t>fiestas en honor a los Santos Patronos de cada comunidad.</a:t>
            </a:r>
            <a:endParaRPr sz="1250">
              <a:solidFill>
                <a:srgbClr val="6B6070"/>
              </a:solidFill>
              <a:latin typeface="Calibri"/>
              <a:ea typeface="Calibri"/>
              <a:cs typeface="Calibri"/>
              <a:sym typeface="Calibri"/>
            </a:endParaRPr>
          </a:p>
        </p:txBody>
      </p:sp>
      <p:sp>
        <p:nvSpPr>
          <p:cNvPr id="75" name="Google Shape;75;p7"/>
          <p:cNvSpPr/>
          <p:nvPr/>
        </p:nvSpPr>
        <p:spPr>
          <a:xfrm>
            <a:off x="685800" y="4572000"/>
            <a:ext cx="411600" cy="411600"/>
          </a:xfrm>
          <a:prstGeom prst="ellipse">
            <a:avLst/>
          </a:prstGeom>
          <a:solidFill>
            <a:srgbClr val="9D4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685800" y="457200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77" name="Google Shape;77;p7"/>
          <p:cNvSpPr/>
          <p:nvPr/>
        </p:nvSpPr>
        <p:spPr>
          <a:xfrm>
            <a:off x="1280160" y="4526280"/>
            <a:ext cx="5394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Fiesta Tica</a:t>
            </a:r>
            <a:endParaRPr b="0" i="0" sz="1600" u="none" cap="none" strike="noStrike">
              <a:solidFill>
                <a:schemeClr val="dk1"/>
              </a:solidFill>
              <a:latin typeface="Calibri"/>
              <a:ea typeface="Calibri"/>
              <a:cs typeface="Calibri"/>
              <a:sym typeface="Calibri"/>
            </a:endParaRPr>
          </a:p>
        </p:txBody>
      </p:sp>
      <p:sp>
        <p:nvSpPr>
          <p:cNvPr id="78" name="Google Shape;78;p7"/>
          <p:cNvSpPr/>
          <p:nvPr/>
        </p:nvSpPr>
        <p:spPr>
          <a:xfrm>
            <a:off x="1280150" y="4873749"/>
            <a:ext cx="5394900" cy="1196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250"/>
              <a:buFont typeface="Calibri"/>
              <a:buNone/>
            </a:pPr>
            <a:r>
              <a:rPr lang="en-US" sz="1250">
                <a:solidFill>
                  <a:srgbClr val="6B6070"/>
                </a:solidFill>
                <a:latin typeface="Calibri"/>
                <a:ea typeface="Calibri"/>
                <a:cs typeface="Calibri"/>
                <a:sym typeface="Calibri"/>
              </a:rPr>
              <a:t>En el año de 1996 el gobierno de Costa Rica firmó decreto para declarar el 31 de octubre de cada año el Día de la Mascarada Tradicional Costarricense, con el objetivo primordial de promover el conocimiento de las diferentes manifestaciones culturales existentes en nuestra sociedad, como un aporte dirigido a recuperar y consolidar la identidad cultural del ser costarricense. </a:t>
            </a:r>
            <a:endParaRPr b="0" i="0" sz="1250" u="none" cap="none" strike="noStrike">
              <a:solidFill>
                <a:schemeClr val="dk1"/>
              </a:solidFill>
              <a:latin typeface="Calibri"/>
              <a:ea typeface="Calibri"/>
              <a:cs typeface="Calibri"/>
              <a:sym typeface="Calibri"/>
            </a:endParaRPr>
          </a:p>
        </p:txBody>
      </p:sp>
      <p:pic>
        <p:nvPicPr>
          <p:cNvPr descr="ea298a537640b43f191d496fd88dde80c" id="79" name="Google Shape;79;p7"/>
          <p:cNvPicPr preferRelativeResize="0"/>
          <p:nvPr/>
        </p:nvPicPr>
        <p:blipFill>
          <a:blip r:embed="rId3">
            <a:alphaModFix/>
          </a:blip>
          <a:stretch>
            <a:fillRect/>
          </a:stretch>
        </p:blipFill>
        <p:spPr>
          <a:xfrm>
            <a:off x="8008200" y="1143125"/>
            <a:ext cx="3525486" cy="2310775"/>
          </a:xfrm>
          <a:prstGeom prst="rect">
            <a:avLst/>
          </a:prstGeom>
          <a:noFill/>
          <a:ln>
            <a:noFill/>
          </a:ln>
          <a:effectLst>
            <a:outerShdw blurRad="485775" rotWithShape="0" algn="bl" dir="2760000" dist="200025">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4" name="Shape 84"/>
        <p:cNvGrpSpPr/>
        <p:nvPr/>
      </p:nvGrpSpPr>
      <p:grpSpPr>
        <a:xfrm>
          <a:off x="0" y="0"/>
          <a:ext cx="0" cy="0"/>
          <a:chOff x="0" y="0"/>
          <a:chExt cx="0" cy="0"/>
        </a:xfrm>
      </p:grpSpPr>
      <p:sp>
        <p:nvSpPr>
          <p:cNvPr id="85" name="Google Shape;85;p8"/>
          <p:cNvSpPr/>
          <p:nvPr/>
        </p:nvSpPr>
        <p:spPr>
          <a:xfrm>
            <a:off x="640080" y="50292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3400"/>
              <a:buFont typeface="Cambria"/>
              <a:buNone/>
            </a:pPr>
            <a:r>
              <a:rPr b="1" i="0" lang="en-US" sz="3400" u="none" cap="none" strike="noStrike">
                <a:solidFill>
                  <a:srgbClr val="241533"/>
                </a:solidFill>
                <a:latin typeface="Cambria"/>
                <a:ea typeface="Cambria"/>
                <a:cs typeface="Cambria"/>
                <a:sym typeface="Cambria"/>
              </a:rPr>
              <a:t>Simbolos iconicos</a:t>
            </a:r>
            <a:endParaRPr b="0" i="0" sz="3400" u="none" cap="none" strike="noStrike">
              <a:solidFill>
                <a:schemeClr val="dk1"/>
              </a:solidFill>
              <a:latin typeface="Calibri"/>
              <a:ea typeface="Calibri"/>
              <a:cs typeface="Calibri"/>
              <a:sym typeface="Calibri"/>
            </a:endParaRPr>
          </a:p>
        </p:txBody>
      </p:sp>
      <p:sp>
        <p:nvSpPr>
          <p:cNvPr id="86" name="Google Shape;86;p8"/>
          <p:cNvSpPr/>
          <p:nvPr/>
        </p:nvSpPr>
        <p:spPr>
          <a:xfrm>
            <a:off x="658368" y="105156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518"/>
              </a:buClr>
              <a:buSzPts val="1400"/>
              <a:buFont typeface="Calibri"/>
              <a:buNone/>
            </a:pPr>
            <a:r>
              <a:rPr b="0" i="1" lang="en-US" sz="1400" u="none" cap="none" strike="noStrike">
                <a:solidFill>
                  <a:srgbClr val="FF7518"/>
                </a:solidFill>
                <a:latin typeface="Calibri"/>
                <a:ea typeface="Calibri"/>
                <a:cs typeface="Calibri"/>
                <a:sym typeface="Calibri"/>
              </a:rPr>
              <a:t>Las </a:t>
            </a:r>
            <a:r>
              <a:rPr i="1" lang="en-US">
                <a:solidFill>
                  <a:srgbClr val="FF7518"/>
                </a:solidFill>
                <a:latin typeface="Calibri"/>
                <a:ea typeface="Calibri"/>
                <a:cs typeface="Calibri"/>
                <a:sym typeface="Calibri"/>
              </a:rPr>
              <a:t>imágenes</a:t>
            </a:r>
            <a:r>
              <a:rPr b="0" i="1" lang="en-US" sz="1400" u="none" cap="none" strike="noStrike">
                <a:solidFill>
                  <a:srgbClr val="FF7518"/>
                </a:solidFill>
                <a:latin typeface="Calibri"/>
                <a:ea typeface="Calibri"/>
                <a:cs typeface="Calibri"/>
                <a:sym typeface="Calibri"/>
              </a:rPr>
              <a:t> que definen la noche de Halloween</a:t>
            </a:r>
            <a:endParaRPr b="0" i="0" sz="1400" u="none" cap="none" strike="noStrike">
              <a:solidFill>
                <a:schemeClr val="dk1"/>
              </a:solidFill>
              <a:latin typeface="Calibri"/>
              <a:ea typeface="Calibri"/>
              <a:cs typeface="Calibri"/>
              <a:sym typeface="Calibri"/>
            </a:endParaRPr>
          </a:p>
        </p:txBody>
      </p:sp>
      <p:sp>
        <p:nvSpPr>
          <p:cNvPr id="87" name="Google Shape;87;p8"/>
          <p:cNvSpPr/>
          <p:nvPr/>
        </p:nvSpPr>
        <p:spPr>
          <a:xfrm>
            <a:off x="640080" y="1691640"/>
            <a:ext cx="3429000" cy="2331720"/>
          </a:xfrm>
          <a:prstGeom prst="rect">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914400" y="196596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pumpkin_orange.png" id="89" name="Google Shape;89;p8"/>
          <p:cNvPicPr preferRelativeResize="0"/>
          <p:nvPr/>
        </p:nvPicPr>
        <p:blipFill rotWithShape="1">
          <a:blip r:embed="rId3">
            <a:alphaModFix/>
          </a:blip>
          <a:srcRect b="0" l="0" r="0" t="0"/>
          <a:stretch/>
        </p:blipFill>
        <p:spPr>
          <a:xfrm>
            <a:off x="1074420" y="2125980"/>
            <a:ext cx="365760" cy="365760"/>
          </a:xfrm>
          <a:prstGeom prst="rect">
            <a:avLst/>
          </a:prstGeom>
          <a:noFill/>
          <a:ln>
            <a:noFill/>
          </a:ln>
        </p:spPr>
      </p:pic>
      <p:sp>
        <p:nvSpPr>
          <p:cNvPr id="90" name="Google Shape;90;p8"/>
          <p:cNvSpPr/>
          <p:nvPr/>
        </p:nvSpPr>
        <p:spPr>
          <a:xfrm>
            <a:off x="1783080" y="19659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Calabaza</a:t>
            </a:r>
            <a:endParaRPr b="0" i="0" sz="1600" u="none" cap="none" strike="noStrike">
              <a:solidFill>
                <a:schemeClr val="dk1"/>
              </a:solidFill>
              <a:latin typeface="Calibri"/>
              <a:ea typeface="Calibri"/>
              <a:cs typeface="Calibri"/>
              <a:sym typeface="Calibri"/>
            </a:endParaRPr>
          </a:p>
        </p:txBody>
      </p:sp>
      <p:sp>
        <p:nvSpPr>
          <p:cNvPr id="91" name="Google Shape;91;p8"/>
          <p:cNvSpPr/>
          <p:nvPr/>
        </p:nvSpPr>
        <p:spPr>
          <a:xfrm>
            <a:off x="914400" y="2743200"/>
            <a:ext cx="288036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b="0" i="0" lang="en-US" sz="1150" u="none" cap="none" strike="noStrike">
                <a:solidFill>
                  <a:srgbClr val="6B6070"/>
                </a:solidFill>
                <a:latin typeface="Calibri"/>
                <a:ea typeface="Calibri"/>
                <a:cs typeface="Calibri"/>
                <a:sym typeface="Calibri"/>
              </a:rPr>
              <a:t>Tallada con rostros </a:t>
            </a:r>
            <a:r>
              <a:rPr lang="en-US" sz="1150">
                <a:solidFill>
                  <a:srgbClr val="6B6070"/>
                </a:solidFill>
                <a:latin typeface="Calibri"/>
                <a:ea typeface="Calibri"/>
                <a:cs typeface="Calibri"/>
                <a:sym typeface="Calibri"/>
              </a:rPr>
              <a:t>terroríficos</a:t>
            </a:r>
            <a:r>
              <a:rPr b="0" i="0" lang="en-US" sz="1150" u="none" cap="none" strike="noStrike">
                <a:solidFill>
                  <a:srgbClr val="6B6070"/>
                </a:solidFill>
                <a:latin typeface="Calibri"/>
                <a:ea typeface="Calibri"/>
                <a:cs typeface="Calibri"/>
                <a:sym typeface="Calibri"/>
              </a:rPr>
              <a:t>, ilumina puertas y ventanas la noche del 31.</a:t>
            </a:r>
            <a:endParaRPr b="0" i="0" sz="1150" u="none" cap="none" strike="noStrike">
              <a:solidFill>
                <a:schemeClr val="dk1"/>
              </a:solidFill>
              <a:latin typeface="Calibri"/>
              <a:ea typeface="Calibri"/>
              <a:cs typeface="Calibri"/>
              <a:sym typeface="Calibri"/>
            </a:endParaRPr>
          </a:p>
        </p:txBody>
      </p:sp>
      <p:sp>
        <p:nvSpPr>
          <p:cNvPr id="92" name="Google Shape;92;p8"/>
          <p:cNvSpPr/>
          <p:nvPr/>
        </p:nvSpPr>
        <p:spPr>
          <a:xfrm>
            <a:off x="4389120" y="1691640"/>
            <a:ext cx="3429000" cy="2331720"/>
          </a:xfrm>
          <a:prstGeom prst="rect">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4663440" y="196596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ghost_purple.png" id="94" name="Google Shape;94;p8"/>
          <p:cNvPicPr preferRelativeResize="0"/>
          <p:nvPr/>
        </p:nvPicPr>
        <p:blipFill rotWithShape="1">
          <a:blip r:embed="rId4">
            <a:alphaModFix/>
          </a:blip>
          <a:srcRect b="0" l="0" r="0" t="0"/>
          <a:stretch/>
        </p:blipFill>
        <p:spPr>
          <a:xfrm>
            <a:off x="4823460" y="2125980"/>
            <a:ext cx="365760" cy="365760"/>
          </a:xfrm>
          <a:prstGeom prst="rect">
            <a:avLst/>
          </a:prstGeom>
          <a:noFill/>
          <a:ln>
            <a:noFill/>
          </a:ln>
        </p:spPr>
      </p:pic>
      <p:sp>
        <p:nvSpPr>
          <p:cNvPr id="95" name="Google Shape;95;p8"/>
          <p:cNvSpPr/>
          <p:nvPr/>
        </p:nvSpPr>
        <p:spPr>
          <a:xfrm>
            <a:off x="5532120" y="19659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Fantasmas</a:t>
            </a:r>
            <a:endParaRPr b="0" i="0" sz="1600" u="none" cap="none" strike="noStrike">
              <a:solidFill>
                <a:schemeClr val="dk1"/>
              </a:solidFill>
              <a:latin typeface="Calibri"/>
              <a:ea typeface="Calibri"/>
              <a:cs typeface="Calibri"/>
              <a:sym typeface="Calibri"/>
            </a:endParaRPr>
          </a:p>
        </p:txBody>
      </p:sp>
      <p:sp>
        <p:nvSpPr>
          <p:cNvPr id="96" name="Google Shape;96;p8"/>
          <p:cNvSpPr/>
          <p:nvPr/>
        </p:nvSpPr>
        <p:spPr>
          <a:xfrm>
            <a:off x="4663440" y="2743200"/>
            <a:ext cx="288036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b="0" i="0" lang="en-US" sz="1150" u="none" cap="none" strike="noStrike">
                <a:solidFill>
                  <a:srgbClr val="6B6070"/>
                </a:solidFill>
                <a:latin typeface="Calibri"/>
                <a:ea typeface="Calibri"/>
                <a:cs typeface="Calibri"/>
                <a:sym typeface="Calibri"/>
              </a:rPr>
              <a:t>Representan a los espiritus que, segun la tradicion, vagan libres esa noche.</a:t>
            </a:r>
            <a:endParaRPr b="0" i="0" sz="1150" u="none" cap="none" strike="noStrike">
              <a:solidFill>
                <a:schemeClr val="dk1"/>
              </a:solidFill>
              <a:latin typeface="Calibri"/>
              <a:ea typeface="Calibri"/>
              <a:cs typeface="Calibri"/>
              <a:sym typeface="Calibri"/>
            </a:endParaRPr>
          </a:p>
        </p:txBody>
      </p:sp>
      <p:sp>
        <p:nvSpPr>
          <p:cNvPr id="97" name="Google Shape;97;p8"/>
          <p:cNvSpPr/>
          <p:nvPr/>
        </p:nvSpPr>
        <p:spPr>
          <a:xfrm>
            <a:off x="8138160" y="1691640"/>
            <a:ext cx="3429000" cy="2331720"/>
          </a:xfrm>
          <a:prstGeom prst="rect">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8412480" y="196596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web_purple.png" id="99" name="Google Shape;99;p8"/>
          <p:cNvPicPr preferRelativeResize="0"/>
          <p:nvPr/>
        </p:nvPicPr>
        <p:blipFill rotWithShape="1">
          <a:blip r:embed="rId5">
            <a:alphaModFix/>
          </a:blip>
          <a:srcRect b="0" l="0" r="0" t="0"/>
          <a:stretch/>
        </p:blipFill>
        <p:spPr>
          <a:xfrm>
            <a:off x="8572500" y="2125980"/>
            <a:ext cx="365760" cy="365760"/>
          </a:xfrm>
          <a:prstGeom prst="rect">
            <a:avLst/>
          </a:prstGeom>
          <a:noFill/>
          <a:ln>
            <a:noFill/>
          </a:ln>
        </p:spPr>
      </p:pic>
      <p:sp>
        <p:nvSpPr>
          <p:cNvPr id="100" name="Google Shape;100;p8"/>
          <p:cNvSpPr/>
          <p:nvPr/>
        </p:nvSpPr>
        <p:spPr>
          <a:xfrm>
            <a:off x="9281160" y="19659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Telaranas</a:t>
            </a:r>
            <a:endParaRPr b="0" i="0" sz="1600" u="none" cap="none" strike="noStrike">
              <a:solidFill>
                <a:schemeClr val="dk1"/>
              </a:solidFill>
              <a:latin typeface="Calibri"/>
              <a:ea typeface="Calibri"/>
              <a:cs typeface="Calibri"/>
              <a:sym typeface="Calibri"/>
            </a:endParaRPr>
          </a:p>
        </p:txBody>
      </p:sp>
      <p:sp>
        <p:nvSpPr>
          <p:cNvPr id="101" name="Google Shape;101;p8"/>
          <p:cNvSpPr/>
          <p:nvPr/>
        </p:nvSpPr>
        <p:spPr>
          <a:xfrm>
            <a:off x="8412480" y="2743200"/>
            <a:ext cx="288036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b="0" i="0" lang="en-US" sz="1150" u="none" cap="none" strike="noStrike">
                <a:solidFill>
                  <a:srgbClr val="6B6070"/>
                </a:solidFill>
                <a:latin typeface="Calibri"/>
                <a:ea typeface="Calibri"/>
                <a:cs typeface="Calibri"/>
                <a:sym typeface="Calibri"/>
              </a:rPr>
              <a:t>Decoran casas y jardines evocando rincones abandonados y tenebrosos.</a:t>
            </a:r>
            <a:endParaRPr b="0" i="0" sz="1150" u="none" cap="none" strike="noStrike">
              <a:solidFill>
                <a:schemeClr val="dk1"/>
              </a:solidFill>
              <a:latin typeface="Calibri"/>
              <a:ea typeface="Calibri"/>
              <a:cs typeface="Calibri"/>
              <a:sym typeface="Calibri"/>
            </a:endParaRPr>
          </a:p>
        </p:txBody>
      </p:sp>
      <p:sp>
        <p:nvSpPr>
          <p:cNvPr id="102" name="Google Shape;102;p8"/>
          <p:cNvSpPr/>
          <p:nvPr/>
        </p:nvSpPr>
        <p:spPr>
          <a:xfrm>
            <a:off x="640080" y="4343400"/>
            <a:ext cx="3429000" cy="2331720"/>
          </a:xfrm>
          <a:prstGeom prst="rect">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914400" y="461772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batwing_dark.png" id="104" name="Google Shape;104;p8"/>
          <p:cNvPicPr preferRelativeResize="0"/>
          <p:nvPr/>
        </p:nvPicPr>
        <p:blipFill rotWithShape="1">
          <a:blip r:embed="rId6">
            <a:alphaModFix/>
          </a:blip>
          <a:srcRect b="0" l="0" r="0" t="0"/>
          <a:stretch/>
        </p:blipFill>
        <p:spPr>
          <a:xfrm>
            <a:off x="1074420" y="4777740"/>
            <a:ext cx="365760" cy="365760"/>
          </a:xfrm>
          <a:prstGeom prst="rect">
            <a:avLst/>
          </a:prstGeom>
          <a:noFill/>
          <a:ln>
            <a:noFill/>
          </a:ln>
        </p:spPr>
      </p:pic>
      <p:sp>
        <p:nvSpPr>
          <p:cNvPr id="105" name="Google Shape;105;p8"/>
          <p:cNvSpPr/>
          <p:nvPr/>
        </p:nvSpPr>
        <p:spPr>
          <a:xfrm>
            <a:off x="1783080" y="461772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Murcielagos</a:t>
            </a:r>
            <a:endParaRPr b="0" i="0" sz="1600" u="none" cap="none" strike="noStrike">
              <a:solidFill>
                <a:schemeClr val="dk1"/>
              </a:solidFill>
              <a:latin typeface="Calibri"/>
              <a:ea typeface="Calibri"/>
              <a:cs typeface="Calibri"/>
              <a:sym typeface="Calibri"/>
            </a:endParaRPr>
          </a:p>
        </p:txBody>
      </p:sp>
      <p:sp>
        <p:nvSpPr>
          <p:cNvPr id="106" name="Google Shape;106;p8"/>
          <p:cNvSpPr/>
          <p:nvPr/>
        </p:nvSpPr>
        <p:spPr>
          <a:xfrm>
            <a:off x="914400" y="5394960"/>
            <a:ext cx="288036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b="0" i="0" lang="en-US" sz="1150" u="none" cap="none" strike="noStrike">
                <a:solidFill>
                  <a:srgbClr val="6B6070"/>
                </a:solidFill>
                <a:latin typeface="Calibri"/>
                <a:ea typeface="Calibri"/>
                <a:cs typeface="Calibri"/>
                <a:sym typeface="Calibri"/>
              </a:rPr>
              <a:t>Animales nocturnos asociados desde siempre al misterio y la oscuridad.</a:t>
            </a:r>
            <a:endParaRPr b="0" i="0" sz="1150" u="none" cap="none" strike="noStrike">
              <a:solidFill>
                <a:schemeClr val="dk1"/>
              </a:solidFill>
              <a:latin typeface="Calibri"/>
              <a:ea typeface="Calibri"/>
              <a:cs typeface="Calibri"/>
              <a:sym typeface="Calibri"/>
            </a:endParaRPr>
          </a:p>
        </p:txBody>
      </p:sp>
      <p:sp>
        <p:nvSpPr>
          <p:cNvPr id="107" name="Google Shape;107;p8"/>
          <p:cNvSpPr/>
          <p:nvPr/>
        </p:nvSpPr>
        <p:spPr>
          <a:xfrm>
            <a:off x="4389120" y="4343400"/>
            <a:ext cx="3429000" cy="2331720"/>
          </a:xfrm>
          <a:prstGeom prst="rect">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4663440" y="461772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cat_dark.png" id="109" name="Google Shape;109;p8"/>
          <p:cNvPicPr preferRelativeResize="0"/>
          <p:nvPr/>
        </p:nvPicPr>
        <p:blipFill rotWithShape="1">
          <a:blip r:embed="rId7">
            <a:alphaModFix/>
          </a:blip>
          <a:srcRect b="0" l="0" r="0" t="0"/>
          <a:stretch/>
        </p:blipFill>
        <p:spPr>
          <a:xfrm>
            <a:off x="4823460" y="4777740"/>
            <a:ext cx="365760" cy="365760"/>
          </a:xfrm>
          <a:prstGeom prst="rect">
            <a:avLst/>
          </a:prstGeom>
          <a:noFill/>
          <a:ln>
            <a:noFill/>
          </a:ln>
        </p:spPr>
      </p:pic>
      <p:sp>
        <p:nvSpPr>
          <p:cNvPr id="110" name="Google Shape;110;p8"/>
          <p:cNvSpPr/>
          <p:nvPr/>
        </p:nvSpPr>
        <p:spPr>
          <a:xfrm>
            <a:off x="5532120" y="461772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Gatos negros</a:t>
            </a:r>
            <a:endParaRPr b="0" i="0" sz="1600" u="none" cap="none" strike="noStrike">
              <a:solidFill>
                <a:schemeClr val="dk1"/>
              </a:solidFill>
              <a:latin typeface="Calibri"/>
              <a:ea typeface="Calibri"/>
              <a:cs typeface="Calibri"/>
              <a:sym typeface="Calibri"/>
            </a:endParaRPr>
          </a:p>
        </p:txBody>
      </p:sp>
      <p:sp>
        <p:nvSpPr>
          <p:cNvPr id="111" name="Google Shape;111;p8"/>
          <p:cNvSpPr/>
          <p:nvPr/>
        </p:nvSpPr>
        <p:spPr>
          <a:xfrm>
            <a:off x="4663440" y="5394960"/>
            <a:ext cx="288036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b="0" i="0" lang="en-US" sz="1150" u="none" cap="none" strike="noStrike">
                <a:solidFill>
                  <a:srgbClr val="6B6070"/>
                </a:solidFill>
                <a:latin typeface="Calibri"/>
                <a:ea typeface="Calibri"/>
                <a:cs typeface="Calibri"/>
                <a:sym typeface="Calibri"/>
              </a:rPr>
              <a:t>Ligados a la </a:t>
            </a:r>
            <a:r>
              <a:rPr lang="en-US" sz="1150">
                <a:solidFill>
                  <a:srgbClr val="6B6070"/>
                </a:solidFill>
                <a:latin typeface="Calibri"/>
                <a:ea typeface="Calibri"/>
                <a:cs typeface="Calibri"/>
                <a:sym typeface="Calibri"/>
              </a:rPr>
              <a:t>brujería</a:t>
            </a:r>
            <a:r>
              <a:rPr b="0" i="0" lang="en-US" sz="1150" u="none" cap="none" strike="noStrike">
                <a:solidFill>
                  <a:srgbClr val="6B6070"/>
                </a:solidFill>
                <a:latin typeface="Calibri"/>
                <a:ea typeface="Calibri"/>
                <a:cs typeface="Calibri"/>
                <a:sym typeface="Calibri"/>
              </a:rPr>
              <a:t> medieval, </a:t>
            </a:r>
            <a:r>
              <a:rPr lang="en-US" sz="1150">
                <a:solidFill>
                  <a:srgbClr val="6B6070"/>
                </a:solidFill>
                <a:latin typeface="Calibri"/>
                <a:ea typeface="Calibri"/>
                <a:cs typeface="Calibri"/>
                <a:sym typeface="Calibri"/>
              </a:rPr>
              <a:t>símbolo</a:t>
            </a:r>
            <a:r>
              <a:rPr b="0" i="0" lang="en-US" sz="1150" u="none" cap="none" strike="noStrike">
                <a:solidFill>
                  <a:srgbClr val="6B6070"/>
                </a:solidFill>
                <a:latin typeface="Calibri"/>
                <a:ea typeface="Calibri"/>
                <a:cs typeface="Calibri"/>
                <a:sym typeface="Calibri"/>
              </a:rPr>
              <a:t> </a:t>
            </a:r>
            <a:r>
              <a:rPr lang="en-US" sz="1150">
                <a:solidFill>
                  <a:srgbClr val="6B6070"/>
                </a:solidFill>
                <a:latin typeface="Calibri"/>
                <a:ea typeface="Calibri"/>
                <a:cs typeface="Calibri"/>
                <a:sym typeface="Calibri"/>
              </a:rPr>
              <a:t>clásico</a:t>
            </a:r>
            <a:r>
              <a:rPr b="0" i="0" lang="en-US" sz="1150" u="none" cap="none" strike="noStrike">
                <a:solidFill>
                  <a:srgbClr val="6B6070"/>
                </a:solidFill>
                <a:latin typeface="Calibri"/>
                <a:ea typeface="Calibri"/>
                <a:cs typeface="Calibri"/>
                <a:sym typeface="Calibri"/>
              </a:rPr>
              <a:t> de mala -o buena- suerte.</a:t>
            </a:r>
            <a:endParaRPr b="0" i="0" sz="1150" u="none" cap="none" strike="noStrike">
              <a:solidFill>
                <a:schemeClr val="dk1"/>
              </a:solidFill>
              <a:latin typeface="Calibri"/>
              <a:ea typeface="Calibri"/>
              <a:cs typeface="Calibri"/>
              <a:sym typeface="Calibri"/>
            </a:endParaRPr>
          </a:p>
        </p:txBody>
      </p:sp>
      <p:sp>
        <p:nvSpPr>
          <p:cNvPr id="112" name="Google Shape;112;p8"/>
          <p:cNvSpPr/>
          <p:nvPr/>
        </p:nvSpPr>
        <p:spPr>
          <a:xfrm>
            <a:off x="8138160" y="4343400"/>
            <a:ext cx="3429000" cy="2331720"/>
          </a:xfrm>
          <a:prstGeom prst="rect">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8412480" y="461772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wizardhat_purple.png" id="114" name="Google Shape;114;p8"/>
          <p:cNvPicPr preferRelativeResize="0"/>
          <p:nvPr/>
        </p:nvPicPr>
        <p:blipFill rotWithShape="1">
          <a:blip r:embed="rId8">
            <a:alphaModFix/>
          </a:blip>
          <a:srcRect b="0" l="0" r="0" t="0"/>
          <a:stretch/>
        </p:blipFill>
        <p:spPr>
          <a:xfrm>
            <a:off x="8572500" y="4777740"/>
            <a:ext cx="365760" cy="365760"/>
          </a:xfrm>
          <a:prstGeom prst="rect">
            <a:avLst/>
          </a:prstGeom>
          <a:noFill/>
          <a:ln>
            <a:noFill/>
          </a:ln>
        </p:spPr>
      </p:pic>
      <p:sp>
        <p:nvSpPr>
          <p:cNvPr id="115" name="Google Shape;115;p8"/>
          <p:cNvSpPr/>
          <p:nvPr/>
        </p:nvSpPr>
        <p:spPr>
          <a:xfrm>
            <a:off x="9281160" y="461772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i="0" lang="en-US" sz="1600" u="none" cap="none" strike="noStrike">
                <a:solidFill>
                  <a:srgbClr val="241533"/>
                </a:solidFill>
                <a:latin typeface="Calibri"/>
                <a:ea typeface="Calibri"/>
                <a:cs typeface="Calibri"/>
                <a:sym typeface="Calibri"/>
              </a:rPr>
              <a:t>Brujas</a:t>
            </a:r>
            <a:endParaRPr b="0" i="0" sz="1600" u="none" cap="none" strike="noStrike">
              <a:solidFill>
                <a:schemeClr val="dk1"/>
              </a:solidFill>
              <a:latin typeface="Calibri"/>
              <a:ea typeface="Calibri"/>
              <a:cs typeface="Calibri"/>
              <a:sym typeface="Calibri"/>
            </a:endParaRPr>
          </a:p>
        </p:txBody>
      </p:sp>
      <p:sp>
        <p:nvSpPr>
          <p:cNvPr id="116" name="Google Shape;116;p8"/>
          <p:cNvSpPr/>
          <p:nvPr/>
        </p:nvSpPr>
        <p:spPr>
          <a:xfrm>
            <a:off x="8412480" y="5394960"/>
            <a:ext cx="288036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b="0" i="0" lang="en-US" sz="1150" u="none" cap="none" strike="noStrike">
                <a:solidFill>
                  <a:srgbClr val="6B6070"/>
                </a:solidFill>
                <a:latin typeface="Calibri"/>
                <a:ea typeface="Calibri"/>
                <a:cs typeface="Calibri"/>
                <a:sym typeface="Calibri"/>
              </a:rPr>
              <a:t>Con sombrero puntiagudo y caldero, protagonistas del folclore de Halloween.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1" name="Shape 121"/>
        <p:cNvGrpSpPr/>
        <p:nvPr/>
      </p:nvGrpSpPr>
      <p:grpSpPr>
        <a:xfrm>
          <a:off x="0" y="0"/>
          <a:ext cx="0" cy="0"/>
          <a:chOff x="0" y="0"/>
          <a:chExt cx="0" cy="0"/>
        </a:xfrm>
      </p:grpSpPr>
      <p:sp>
        <p:nvSpPr>
          <p:cNvPr id="122" name="Google Shape;122;p9"/>
          <p:cNvSpPr/>
          <p:nvPr/>
        </p:nvSpPr>
        <p:spPr>
          <a:xfrm>
            <a:off x="640080" y="502920"/>
            <a:ext cx="7315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3400"/>
              <a:buFont typeface="Cambria"/>
              <a:buNone/>
            </a:pPr>
            <a:r>
              <a:rPr b="1" i="0" lang="en-US" sz="3400" u="none" cap="none" strike="noStrike">
                <a:solidFill>
                  <a:srgbClr val="241533"/>
                </a:solidFill>
                <a:latin typeface="Cambria"/>
                <a:ea typeface="Cambria"/>
                <a:cs typeface="Cambria"/>
                <a:sym typeface="Cambria"/>
              </a:rPr>
              <a:t>S</a:t>
            </a:r>
            <a:r>
              <a:rPr b="1" lang="en-US" sz="3400">
                <a:solidFill>
                  <a:srgbClr val="241533"/>
                </a:solidFill>
                <a:latin typeface="Cambria"/>
                <a:ea typeface="Cambria"/>
                <a:cs typeface="Cambria"/>
                <a:sym typeface="Cambria"/>
              </a:rPr>
              <a:t>í</a:t>
            </a:r>
            <a:r>
              <a:rPr b="1" i="0" lang="en-US" sz="3400" u="none" cap="none" strike="noStrike">
                <a:solidFill>
                  <a:srgbClr val="241533"/>
                </a:solidFill>
                <a:latin typeface="Cambria"/>
                <a:ea typeface="Cambria"/>
                <a:cs typeface="Cambria"/>
                <a:sym typeface="Cambria"/>
              </a:rPr>
              <a:t>mbolos ic</a:t>
            </a:r>
            <a:r>
              <a:rPr b="1" lang="en-US" sz="3400">
                <a:solidFill>
                  <a:srgbClr val="241533"/>
                </a:solidFill>
                <a:latin typeface="Cambria"/>
                <a:ea typeface="Cambria"/>
                <a:cs typeface="Cambria"/>
                <a:sym typeface="Cambria"/>
              </a:rPr>
              <a:t>ó</a:t>
            </a:r>
            <a:r>
              <a:rPr b="1" i="0" lang="en-US" sz="3400" u="none" cap="none" strike="noStrike">
                <a:solidFill>
                  <a:srgbClr val="241533"/>
                </a:solidFill>
                <a:latin typeface="Cambria"/>
                <a:ea typeface="Cambria"/>
                <a:cs typeface="Cambria"/>
                <a:sym typeface="Cambria"/>
              </a:rPr>
              <a:t>nicos</a:t>
            </a:r>
            <a:endParaRPr b="0" i="0" sz="3400" u="none" cap="none" strike="noStrike">
              <a:solidFill>
                <a:schemeClr val="dk1"/>
              </a:solidFill>
              <a:latin typeface="Calibri"/>
              <a:ea typeface="Calibri"/>
              <a:cs typeface="Calibri"/>
              <a:sym typeface="Calibri"/>
            </a:endParaRPr>
          </a:p>
        </p:txBody>
      </p:sp>
      <p:sp>
        <p:nvSpPr>
          <p:cNvPr id="123" name="Google Shape;123;p9"/>
          <p:cNvSpPr/>
          <p:nvPr/>
        </p:nvSpPr>
        <p:spPr>
          <a:xfrm>
            <a:off x="658368" y="105156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518"/>
              </a:buClr>
              <a:buSzPts val="1400"/>
              <a:buFont typeface="Calibri"/>
              <a:buNone/>
            </a:pPr>
            <a:r>
              <a:rPr b="0" i="1" lang="en-US" sz="1400" u="none" cap="none" strike="noStrike">
                <a:solidFill>
                  <a:srgbClr val="FF7518"/>
                </a:solidFill>
                <a:latin typeface="Calibri"/>
                <a:ea typeface="Calibri"/>
                <a:cs typeface="Calibri"/>
                <a:sym typeface="Calibri"/>
              </a:rPr>
              <a:t>Las imagenes que definen la noche de Halloween</a:t>
            </a:r>
            <a:endParaRPr b="0" i="0" sz="1400" u="none" cap="none" strike="noStrike">
              <a:solidFill>
                <a:schemeClr val="dk1"/>
              </a:solidFill>
              <a:latin typeface="Calibri"/>
              <a:ea typeface="Calibri"/>
              <a:cs typeface="Calibri"/>
              <a:sym typeface="Calibri"/>
            </a:endParaRPr>
          </a:p>
        </p:txBody>
      </p:sp>
      <p:sp>
        <p:nvSpPr>
          <p:cNvPr id="124" name="Google Shape;124;p9"/>
          <p:cNvSpPr/>
          <p:nvPr/>
        </p:nvSpPr>
        <p:spPr>
          <a:xfrm>
            <a:off x="640080" y="1691640"/>
            <a:ext cx="3429000" cy="2331600"/>
          </a:xfrm>
          <a:prstGeom prst="rect">
            <a:avLst/>
          </a:prstGeom>
          <a:solidFill>
            <a:srgbClr val="FFFFFF"/>
          </a:solidFill>
          <a:ln>
            <a:noFill/>
          </a:ln>
          <a:effectLst>
            <a:outerShdw blurRad="1016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p:nvPr/>
        </p:nvSpPr>
        <p:spPr>
          <a:xfrm>
            <a:off x="914400" y="196596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pumpkin_orange.png" id="126" name="Google Shape;126;p9"/>
          <p:cNvPicPr preferRelativeResize="0"/>
          <p:nvPr/>
        </p:nvPicPr>
        <p:blipFill rotWithShape="1">
          <a:blip r:embed="rId3">
            <a:alphaModFix/>
          </a:blip>
          <a:srcRect b="0" l="0" r="0" t="0"/>
          <a:stretch/>
        </p:blipFill>
        <p:spPr>
          <a:xfrm>
            <a:off x="1074420" y="2125980"/>
            <a:ext cx="365760" cy="365760"/>
          </a:xfrm>
          <a:prstGeom prst="rect">
            <a:avLst/>
          </a:prstGeom>
          <a:noFill/>
          <a:ln>
            <a:noFill/>
          </a:ln>
        </p:spPr>
      </p:pic>
      <p:sp>
        <p:nvSpPr>
          <p:cNvPr id="127" name="Google Shape;127;p9"/>
          <p:cNvSpPr/>
          <p:nvPr/>
        </p:nvSpPr>
        <p:spPr>
          <a:xfrm>
            <a:off x="1783080" y="1965960"/>
            <a:ext cx="205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La Segua</a:t>
            </a:r>
            <a:endParaRPr b="0" i="0" sz="1600" u="none" cap="none" strike="noStrike">
              <a:solidFill>
                <a:schemeClr val="dk1"/>
              </a:solidFill>
              <a:latin typeface="Calibri"/>
              <a:ea typeface="Calibri"/>
              <a:cs typeface="Calibri"/>
              <a:sym typeface="Calibri"/>
            </a:endParaRPr>
          </a:p>
        </p:txBody>
      </p:sp>
      <p:sp>
        <p:nvSpPr>
          <p:cNvPr id="128" name="Google Shape;128;p9"/>
          <p:cNvSpPr/>
          <p:nvPr/>
        </p:nvSpPr>
        <p:spPr>
          <a:xfrm>
            <a:off x="800125" y="2766025"/>
            <a:ext cx="304020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lang="en-US" sz="1200">
                <a:solidFill>
                  <a:srgbClr val="1F1F1F"/>
                </a:solidFill>
                <a:highlight>
                  <a:srgbClr val="FFFFFF"/>
                </a:highlight>
              </a:rPr>
              <a:t>Es un ser espectral que se materializa por las noches en caminos solitarios, solicitando ayuda para que la lleven a algún poblado cercano</a:t>
            </a:r>
            <a:r>
              <a:rPr lang="en-US" sz="1100">
                <a:solidFill>
                  <a:schemeClr val="dk1"/>
                </a:solidFill>
              </a:rPr>
              <a:t> </a:t>
            </a:r>
            <a:endParaRPr b="0" i="0" sz="1150" u="none" cap="none" strike="noStrike">
              <a:solidFill>
                <a:schemeClr val="dk1"/>
              </a:solidFill>
              <a:latin typeface="Calibri"/>
              <a:ea typeface="Calibri"/>
              <a:cs typeface="Calibri"/>
              <a:sym typeface="Calibri"/>
            </a:endParaRPr>
          </a:p>
        </p:txBody>
      </p:sp>
      <p:sp>
        <p:nvSpPr>
          <p:cNvPr id="129" name="Google Shape;129;p9"/>
          <p:cNvSpPr/>
          <p:nvPr/>
        </p:nvSpPr>
        <p:spPr>
          <a:xfrm>
            <a:off x="4389120" y="1691640"/>
            <a:ext cx="3429000" cy="2331600"/>
          </a:xfrm>
          <a:prstGeom prst="rect">
            <a:avLst/>
          </a:prstGeom>
          <a:solidFill>
            <a:srgbClr val="FFFFFF"/>
          </a:solidFill>
          <a:ln>
            <a:noFill/>
          </a:ln>
          <a:effectLst>
            <a:outerShdw blurRad="1016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4663440" y="1965960"/>
            <a:ext cx="685800" cy="685800"/>
          </a:xfrm>
          <a:prstGeom prst="ellipse">
            <a:avLst/>
          </a:prstGeom>
          <a:solidFill>
            <a:srgbClr val="1B10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_ghost_purple.png" id="131" name="Google Shape;131;p9"/>
          <p:cNvPicPr preferRelativeResize="0"/>
          <p:nvPr/>
        </p:nvPicPr>
        <p:blipFill rotWithShape="1">
          <a:blip r:embed="rId4">
            <a:alphaModFix/>
          </a:blip>
          <a:srcRect b="0" l="0" r="0" t="0"/>
          <a:stretch/>
        </p:blipFill>
        <p:spPr>
          <a:xfrm>
            <a:off x="4823460" y="2125980"/>
            <a:ext cx="365760" cy="365760"/>
          </a:xfrm>
          <a:prstGeom prst="rect">
            <a:avLst/>
          </a:prstGeom>
          <a:noFill/>
          <a:ln>
            <a:noFill/>
          </a:ln>
        </p:spPr>
      </p:pic>
      <p:sp>
        <p:nvSpPr>
          <p:cNvPr id="132" name="Google Shape;132;p9"/>
          <p:cNvSpPr/>
          <p:nvPr/>
        </p:nvSpPr>
        <p:spPr>
          <a:xfrm>
            <a:off x="5532120" y="1965960"/>
            <a:ext cx="205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Cadejo</a:t>
            </a:r>
            <a:endParaRPr b="0" i="0" sz="1600" u="none" cap="none" strike="noStrike">
              <a:solidFill>
                <a:schemeClr val="dk1"/>
              </a:solidFill>
              <a:latin typeface="Calibri"/>
              <a:ea typeface="Calibri"/>
              <a:cs typeface="Calibri"/>
              <a:sym typeface="Calibri"/>
            </a:endParaRPr>
          </a:p>
        </p:txBody>
      </p:sp>
      <p:sp>
        <p:nvSpPr>
          <p:cNvPr id="133" name="Google Shape;133;p9"/>
          <p:cNvSpPr/>
          <p:nvPr/>
        </p:nvSpPr>
        <p:spPr>
          <a:xfrm>
            <a:off x="4389126" y="2766025"/>
            <a:ext cx="317460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lang="en-US" sz="1200">
                <a:solidFill>
                  <a:srgbClr val="1F1F1F"/>
                </a:solidFill>
                <a:highlight>
                  <a:srgbClr val="FFFFFF"/>
                </a:highlight>
              </a:rPr>
              <a:t>Es un perro espectral de gran tamaño, ojos brillantes, que arrastra cadenas, y que durante las noches aparece en sitios solitarios</a:t>
            </a:r>
            <a:r>
              <a:rPr lang="en-US" sz="1100">
                <a:solidFill>
                  <a:schemeClr val="dk1"/>
                </a:solidFill>
              </a:rPr>
              <a:t> </a:t>
            </a:r>
            <a:endParaRPr b="0" i="0" sz="1150" u="none" cap="none" strike="noStrike">
              <a:solidFill>
                <a:schemeClr val="dk1"/>
              </a:solidFill>
              <a:latin typeface="Calibri"/>
              <a:ea typeface="Calibri"/>
              <a:cs typeface="Calibri"/>
              <a:sym typeface="Calibri"/>
            </a:endParaRPr>
          </a:p>
        </p:txBody>
      </p:sp>
      <p:sp>
        <p:nvSpPr>
          <p:cNvPr id="134" name="Google Shape;134;p9"/>
          <p:cNvSpPr/>
          <p:nvPr/>
        </p:nvSpPr>
        <p:spPr>
          <a:xfrm>
            <a:off x="8138160" y="1691640"/>
            <a:ext cx="3429000" cy="2331600"/>
          </a:xfrm>
          <a:prstGeom prst="rect">
            <a:avLst/>
          </a:prstGeom>
          <a:solidFill>
            <a:srgbClr val="FFFFFF"/>
          </a:solidFill>
          <a:ln>
            <a:noFill/>
          </a:ln>
          <a:effectLst>
            <a:outerShdw blurRad="1016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9281160" y="1965960"/>
            <a:ext cx="205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El diablillo</a:t>
            </a:r>
            <a:endParaRPr b="0" i="0" sz="1600" u="none" cap="none" strike="noStrike">
              <a:solidFill>
                <a:schemeClr val="dk1"/>
              </a:solidFill>
              <a:latin typeface="Calibri"/>
              <a:ea typeface="Calibri"/>
              <a:cs typeface="Calibri"/>
              <a:sym typeface="Calibri"/>
            </a:endParaRPr>
          </a:p>
        </p:txBody>
      </p:sp>
      <p:sp>
        <p:nvSpPr>
          <p:cNvPr id="136" name="Google Shape;136;p9"/>
          <p:cNvSpPr/>
          <p:nvPr/>
        </p:nvSpPr>
        <p:spPr>
          <a:xfrm>
            <a:off x="8366930" y="2766025"/>
            <a:ext cx="288030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lang="en-US" sz="1200">
                <a:solidFill>
                  <a:srgbClr val="0A0A0A"/>
                </a:solidFill>
                <a:highlight>
                  <a:srgbClr val="FFFFFF"/>
                </a:highlight>
              </a:rPr>
              <a:t>Representa la fusión de culturas y se elabora artesanalmente en diferentes regiones del país.</a:t>
            </a:r>
            <a:r>
              <a:rPr lang="en-US" sz="1100">
                <a:solidFill>
                  <a:schemeClr val="dk1"/>
                </a:solidFill>
              </a:rPr>
              <a:t> </a:t>
            </a:r>
            <a:endParaRPr b="0" i="0" sz="1150" u="none" cap="none" strike="noStrike">
              <a:solidFill>
                <a:schemeClr val="dk1"/>
              </a:solidFill>
              <a:latin typeface="Calibri"/>
              <a:ea typeface="Calibri"/>
              <a:cs typeface="Calibri"/>
              <a:sym typeface="Calibri"/>
            </a:endParaRPr>
          </a:p>
        </p:txBody>
      </p:sp>
      <p:sp>
        <p:nvSpPr>
          <p:cNvPr id="137" name="Google Shape;137;p9"/>
          <p:cNvSpPr/>
          <p:nvPr/>
        </p:nvSpPr>
        <p:spPr>
          <a:xfrm>
            <a:off x="640080" y="4343400"/>
            <a:ext cx="3429000" cy="2331600"/>
          </a:xfrm>
          <a:prstGeom prst="rect">
            <a:avLst/>
          </a:prstGeom>
          <a:solidFill>
            <a:srgbClr val="FFFFFF"/>
          </a:solidFill>
          <a:ln>
            <a:noFill/>
          </a:ln>
          <a:effectLst>
            <a:outerShdw blurRad="1016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1783080" y="4617720"/>
            <a:ext cx="205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La Llorona</a:t>
            </a:r>
            <a:endParaRPr b="0" i="0" sz="1600" u="none" cap="none" strike="noStrike">
              <a:solidFill>
                <a:schemeClr val="dk1"/>
              </a:solidFill>
              <a:latin typeface="Calibri"/>
              <a:ea typeface="Calibri"/>
              <a:cs typeface="Calibri"/>
              <a:sym typeface="Calibri"/>
            </a:endParaRPr>
          </a:p>
        </p:txBody>
      </p:sp>
      <p:sp>
        <p:nvSpPr>
          <p:cNvPr id="139" name="Google Shape;139;p9"/>
          <p:cNvSpPr/>
          <p:nvPr/>
        </p:nvSpPr>
        <p:spPr>
          <a:xfrm>
            <a:off x="640075" y="5577900"/>
            <a:ext cx="320040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lang="en-US" sz="1200">
                <a:solidFill>
                  <a:srgbClr val="001D35"/>
                </a:solidFill>
                <a:highlight>
                  <a:srgbClr val="FFFFFF"/>
                </a:highlight>
              </a:rPr>
              <a:t>Cuenta la historia de una mujer que, tras perder a sus hijos en un trágico accidente, quedó condenada a vagar eternamente en busca de ellos</a:t>
            </a:r>
            <a:r>
              <a:rPr lang="en-US" sz="1100">
                <a:solidFill>
                  <a:schemeClr val="dk1"/>
                </a:solidFill>
              </a:rPr>
              <a:t> </a:t>
            </a:r>
            <a:endParaRPr b="0" i="0" sz="1150" u="none" cap="none" strike="noStrike">
              <a:solidFill>
                <a:schemeClr val="dk1"/>
              </a:solidFill>
              <a:latin typeface="Calibri"/>
              <a:ea typeface="Calibri"/>
              <a:cs typeface="Calibri"/>
              <a:sym typeface="Calibri"/>
            </a:endParaRPr>
          </a:p>
        </p:txBody>
      </p:sp>
      <p:sp>
        <p:nvSpPr>
          <p:cNvPr id="140" name="Google Shape;140;p9"/>
          <p:cNvSpPr/>
          <p:nvPr/>
        </p:nvSpPr>
        <p:spPr>
          <a:xfrm>
            <a:off x="4389120" y="4343400"/>
            <a:ext cx="3429000" cy="2331600"/>
          </a:xfrm>
          <a:prstGeom prst="rect">
            <a:avLst/>
          </a:prstGeom>
          <a:solidFill>
            <a:srgbClr val="FFFFFF"/>
          </a:solidFill>
          <a:ln>
            <a:noFill/>
          </a:ln>
          <a:effectLst>
            <a:outerShdw blurRad="1016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5532120" y="4617720"/>
            <a:ext cx="205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La Giganta</a:t>
            </a:r>
            <a:endParaRPr b="0" i="0" sz="1600" u="none" cap="none" strike="noStrike">
              <a:solidFill>
                <a:schemeClr val="dk1"/>
              </a:solidFill>
              <a:latin typeface="Calibri"/>
              <a:ea typeface="Calibri"/>
              <a:cs typeface="Calibri"/>
              <a:sym typeface="Calibri"/>
            </a:endParaRPr>
          </a:p>
        </p:txBody>
      </p:sp>
      <p:sp>
        <p:nvSpPr>
          <p:cNvPr id="142" name="Google Shape;142;p9"/>
          <p:cNvSpPr/>
          <p:nvPr/>
        </p:nvSpPr>
        <p:spPr>
          <a:xfrm>
            <a:off x="4526265" y="5394960"/>
            <a:ext cx="288030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lang="en-US" sz="1200">
                <a:solidFill>
                  <a:srgbClr val="001D35"/>
                </a:solidFill>
                <a:highlight>
                  <a:srgbClr val="FFFFFF"/>
                </a:highlight>
              </a:rPr>
              <a:t>R</a:t>
            </a:r>
            <a:r>
              <a:rPr lang="en-US" sz="1200">
                <a:solidFill>
                  <a:srgbClr val="001D35"/>
                </a:solidFill>
                <a:highlight>
                  <a:srgbClr val="FFFFFF"/>
                </a:highlight>
              </a:rPr>
              <a:t>epresenta</a:t>
            </a:r>
            <a:r>
              <a:rPr lang="en-US" sz="1200">
                <a:solidFill>
                  <a:srgbClr val="001D35"/>
                </a:solidFill>
                <a:highlight>
                  <a:srgbClr val="FFFFFF"/>
                </a:highlight>
              </a:rPr>
              <a:t> de forma satírica a las mujeres de la alta sociedad de la época colonial. </a:t>
            </a:r>
            <a:endParaRPr sz="1200">
              <a:solidFill>
                <a:srgbClr val="001D35"/>
              </a:solidFill>
              <a:highlight>
                <a:srgbClr val="FFFFFF"/>
              </a:highlight>
            </a:endParaRPr>
          </a:p>
        </p:txBody>
      </p:sp>
      <p:sp>
        <p:nvSpPr>
          <p:cNvPr id="143" name="Google Shape;143;p9"/>
          <p:cNvSpPr/>
          <p:nvPr/>
        </p:nvSpPr>
        <p:spPr>
          <a:xfrm>
            <a:off x="8138160" y="4343400"/>
            <a:ext cx="3429000" cy="2331600"/>
          </a:xfrm>
          <a:prstGeom prst="rect">
            <a:avLst/>
          </a:prstGeom>
          <a:solidFill>
            <a:srgbClr val="FFFFFF"/>
          </a:solidFill>
          <a:ln>
            <a:noFill/>
          </a:ln>
          <a:effectLst>
            <a:outerShdw blurRad="1016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9281160" y="4617720"/>
            <a:ext cx="205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33"/>
              </a:buClr>
              <a:buSzPts val="1600"/>
              <a:buFont typeface="Calibri"/>
              <a:buNone/>
            </a:pPr>
            <a:r>
              <a:rPr b="1" lang="en-US" sz="1600">
                <a:solidFill>
                  <a:srgbClr val="241533"/>
                </a:solidFill>
                <a:latin typeface="Calibri"/>
                <a:ea typeface="Calibri"/>
                <a:cs typeface="Calibri"/>
                <a:sym typeface="Calibri"/>
              </a:rPr>
              <a:t>El padre sin Cabeza</a:t>
            </a:r>
            <a:endParaRPr b="0" i="0" sz="1600" u="none" cap="none" strike="noStrike">
              <a:solidFill>
                <a:schemeClr val="dk1"/>
              </a:solidFill>
              <a:latin typeface="Calibri"/>
              <a:ea typeface="Calibri"/>
              <a:cs typeface="Calibri"/>
              <a:sym typeface="Calibri"/>
            </a:endParaRPr>
          </a:p>
        </p:txBody>
      </p:sp>
      <p:sp>
        <p:nvSpPr>
          <p:cNvPr id="145" name="Google Shape;145;p9"/>
          <p:cNvSpPr/>
          <p:nvPr/>
        </p:nvSpPr>
        <p:spPr>
          <a:xfrm>
            <a:off x="8412480" y="5394960"/>
            <a:ext cx="2880300" cy="1143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070"/>
              </a:buClr>
              <a:buSzPts val="1150"/>
              <a:buFont typeface="Calibri"/>
              <a:buNone/>
            </a:pPr>
            <a:r>
              <a:rPr lang="en-US" sz="1200">
                <a:solidFill>
                  <a:schemeClr val="dk1"/>
                </a:solidFill>
              </a:rPr>
              <a:t>Se dice que es el espíritu de un sacerdote que murió en pecado, a menudo por amores prohibidos, o por abusar de su autoridad eclesiástica.</a:t>
            </a:r>
            <a:r>
              <a:rPr lang="en-US" sz="1100">
                <a:solidFill>
                  <a:schemeClr val="dk1"/>
                </a:solidFill>
              </a:rPr>
              <a:t> </a:t>
            </a:r>
            <a:endParaRPr b="0" i="0" sz="1150" u="none" cap="none" strike="noStrike">
              <a:solidFill>
                <a:schemeClr val="dk1"/>
              </a:solidFill>
              <a:latin typeface="Calibri"/>
              <a:ea typeface="Calibri"/>
              <a:cs typeface="Calibri"/>
              <a:sym typeface="Calibri"/>
            </a:endParaRPr>
          </a:p>
        </p:txBody>
      </p:sp>
      <p:pic>
        <p:nvPicPr>
          <p:cNvPr id="146" name="Google Shape;146;p9"/>
          <p:cNvPicPr preferRelativeResize="0"/>
          <p:nvPr/>
        </p:nvPicPr>
        <p:blipFill>
          <a:blip r:embed="rId5">
            <a:alphaModFix/>
          </a:blip>
          <a:stretch>
            <a:fillRect/>
          </a:stretch>
        </p:blipFill>
        <p:spPr>
          <a:xfrm>
            <a:off x="4479714" y="4463616"/>
            <a:ext cx="893213" cy="839910"/>
          </a:xfrm>
          <a:prstGeom prst="rect">
            <a:avLst/>
          </a:prstGeom>
          <a:noFill/>
          <a:ln>
            <a:noFill/>
          </a:ln>
        </p:spPr>
      </p:pic>
      <p:pic>
        <p:nvPicPr>
          <p:cNvPr id="147" name="Google Shape;147;p9"/>
          <p:cNvPicPr preferRelativeResize="0"/>
          <p:nvPr/>
        </p:nvPicPr>
        <p:blipFill>
          <a:blip r:embed="rId6">
            <a:alphaModFix/>
          </a:blip>
          <a:stretch>
            <a:fillRect/>
          </a:stretch>
        </p:blipFill>
        <p:spPr>
          <a:xfrm>
            <a:off x="783448" y="1834998"/>
            <a:ext cx="947700" cy="947700"/>
          </a:xfrm>
          <a:prstGeom prst="rect">
            <a:avLst/>
          </a:prstGeom>
          <a:noFill/>
          <a:ln>
            <a:noFill/>
          </a:ln>
        </p:spPr>
      </p:pic>
      <p:pic>
        <p:nvPicPr>
          <p:cNvPr id="148" name="Google Shape;148;p9"/>
          <p:cNvPicPr preferRelativeResize="0"/>
          <p:nvPr/>
        </p:nvPicPr>
        <p:blipFill>
          <a:blip r:embed="rId7">
            <a:alphaModFix/>
          </a:blip>
          <a:stretch>
            <a:fillRect/>
          </a:stretch>
        </p:blipFill>
        <p:spPr>
          <a:xfrm>
            <a:off x="8412500" y="1834994"/>
            <a:ext cx="718700" cy="726010"/>
          </a:xfrm>
          <a:prstGeom prst="rect">
            <a:avLst/>
          </a:prstGeom>
          <a:solidFill>
            <a:srgbClr val="FFFFFF"/>
          </a:solidFill>
          <a:ln>
            <a:noFill/>
          </a:ln>
          <a:effectLst>
            <a:outerShdw blurRad="101600" rotWithShape="0" algn="bl" dir="2700000" dist="25400">
              <a:srgbClr val="000000">
                <a:alpha val="10199"/>
              </a:srgbClr>
            </a:outerShdw>
          </a:effectLst>
        </p:spPr>
      </p:pic>
      <p:pic>
        <p:nvPicPr>
          <p:cNvPr id="149" name="Google Shape;149;p9"/>
          <p:cNvPicPr preferRelativeResize="0"/>
          <p:nvPr/>
        </p:nvPicPr>
        <p:blipFill>
          <a:blip r:embed="rId8">
            <a:alphaModFix/>
          </a:blip>
          <a:stretch>
            <a:fillRect/>
          </a:stretch>
        </p:blipFill>
        <p:spPr>
          <a:xfrm>
            <a:off x="4399816" y="1663166"/>
            <a:ext cx="1069650" cy="1069650"/>
          </a:xfrm>
          <a:prstGeom prst="rect">
            <a:avLst/>
          </a:prstGeom>
          <a:noFill/>
          <a:ln>
            <a:noFill/>
          </a:ln>
        </p:spPr>
      </p:pic>
      <p:pic>
        <p:nvPicPr>
          <p:cNvPr id="150" name="Google Shape;150;p9"/>
          <p:cNvPicPr preferRelativeResize="0"/>
          <p:nvPr/>
        </p:nvPicPr>
        <p:blipFill>
          <a:blip r:embed="rId9">
            <a:alphaModFix/>
          </a:blip>
          <a:stretch>
            <a:fillRect/>
          </a:stretch>
        </p:blipFill>
        <p:spPr>
          <a:xfrm>
            <a:off x="640068" y="4381261"/>
            <a:ext cx="947700" cy="1158726"/>
          </a:xfrm>
          <a:prstGeom prst="rect">
            <a:avLst/>
          </a:prstGeom>
          <a:solidFill>
            <a:srgbClr val="FFFFFF"/>
          </a:solidFill>
          <a:ln>
            <a:noFill/>
          </a:ln>
          <a:effectLst>
            <a:outerShdw blurRad="101600" rotWithShape="0" algn="bl" dir="2700000" dist="25400">
              <a:srgbClr val="000000">
                <a:alpha val="10199"/>
              </a:srgbClr>
            </a:outerShdw>
          </a:effectLst>
        </p:spPr>
      </p:pic>
      <p:pic>
        <p:nvPicPr>
          <p:cNvPr id="151" name="Google Shape;151;p9"/>
          <p:cNvPicPr preferRelativeResize="0"/>
          <p:nvPr/>
        </p:nvPicPr>
        <p:blipFill>
          <a:blip r:embed="rId10">
            <a:alphaModFix/>
          </a:blip>
          <a:stretch>
            <a:fillRect/>
          </a:stretch>
        </p:blipFill>
        <p:spPr>
          <a:xfrm>
            <a:off x="8412475" y="4520565"/>
            <a:ext cx="821887" cy="72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nvSpPr>
        <p:spPr>
          <a:xfrm>
            <a:off x="873125" y="520000"/>
            <a:ext cx="8960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rgbClr val="241533"/>
                </a:solidFill>
                <a:latin typeface="Cambria"/>
                <a:ea typeface="Cambria"/>
                <a:cs typeface="Cambria"/>
                <a:sym typeface="Cambria"/>
              </a:rPr>
              <a:t>¿Qué nos interesa aquí como empresa?</a:t>
            </a:r>
            <a:endParaRPr/>
          </a:p>
        </p:txBody>
      </p:sp>
      <p:sp>
        <p:nvSpPr>
          <p:cNvPr id="158" name="Google Shape;158;p10"/>
          <p:cNvSpPr txBox="1"/>
          <p:nvPr/>
        </p:nvSpPr>
        <p:spPr>
          <a:xfrm>
            <a:off x="873125" y="1371425"/>
            <a:ext cx="6882000" cy="1369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rgbClr val="1F1F1F"/>
              </a:buClr>
              <a:buSzPts val="1400"/>
              <a:buChar char="●"/>
            </a:pPr>
            <a:r>
              <a:rPr lang="en-US">
                <a:solidFill>
                  <a:srgbClr val="1F1F1F"/>
                </a:solidFill>
                <a:highlight>
                  <a:srgbClr val="FFFFFF"/>
                </a:highlight>
              </a:rPr>
              <a:t>Nuestra empresa se especializa en la creación y producción de disfraces al igual que la distribución de </a:t>
            </a:r>
            <a:r>
              <a:rPr lang="en-US">
                <a:solidFill>
                  <a:srgbClr val="1F1F1F"/>
                </a:solidFill>
                <a:highlight>
                  <a:srgbClr val="FFFFFF"/>
                </a:highlight>
              </a:rPr>
              <a:t>golosinas.</a:t>
            </a:r>
            <a:r>
              <a:rPr lang="en-US">
                <a:solidFill>
                  <a:srgbClr val="1F1F1F"/>
                </a:solidFill>
                <a:highlight>
                  <a:srgbClr val="FFFFFF"/>
                </a:highlight>
              </a:rPr>
              <a:t> </a:t>
            </a:r>
            <a:endParaRPr>
              <a:solidFill>
                <a:srgbClr val="1F1F1F"/>
              </a:solidFill>
              <a:highlight>
                <a:srgbClr val="FFFFFF"/>
              </a:highlight>
            </a:endParaRPr>
          </a:p>
          <a:p>
            <a:pPr indent="-317500" lvl="0" marL="457200" rtl="0" algn="l">
              <a:lnSpc>
                <a:spcPct val="150000"/>
              </a:lnSpc>
              <a:spcBef>
                <a:spcPts val="0"/>
              </a:spcBef>
              <a:spcAft>
                <a:spcPts val="0"/>
              </a:spcAft>
              <a:buClr>
                <a:srgbClr val="1F1F1F"/>
              </a:buClr>
              <a:buSzPts val="1400"/>
              <a:buChar char="●"/>
            </a:pPr>
            <a:r>
              <a:rPr lang="en-US">
                <a:solidFill>
                  <a:srgbClr val="1F1F1F"/>
                </a:solidFill>
                <a:highlight>
                  <a:srgbClr val="FFFFFF"/>
                </a:highlight>
              </a:rPr>
              <a:t>Queremos averiguar qué temas o personajes son los más populares para tener disfraces por vender durante la época y ver qué clase de dulces </a:t>
            </a:r>
            <a:endParaRPr>
              <a:solidFill>
                <a:srgbClr val="1F1F1F"/>
              </a:solidFill>
              <a:highlight>
                <a:srgbClr val="FFFFFF"/>
              </a:highlight>
            </a:endParaRPr>
          </a:p>
        </p:txBody>
      </p:sp>
      <p:pic>
        <p:nvPicPr>
          <p:cNvPr id="159" name="Google Shape;159;p10"/>
          <p:cNvPicPr preferRelativeResize="0"/>
          <p:nvPr/>
        </p:nvPicPr>
        <p:blipFill>
          <a:blip r:embed="rId3">
            <a:alphaModFix/>
          </a:blip>
          <a:stretch>
            <a:fillRect/>
          </a:stretch>
        </p:blipFill>
        <p:spPr>
          <a:xfrm>
            <a:off x="7662300" y="2741225"/>
            <a:ext cx="3333219" cy="3811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1"/>
          <p:cNvPicPr preferRelativeResize="0"/>
          <p:nvPr/>
        </p:nvPicPr>
        <p:blipFill>
          <a:blip r:embed="rId3">
            <a:alphaModFix/>
          </a:blip>
          <a:stretch>
            <a:fillRect/>
          </a:stretch>
        </p:blipFill>
        <p:spPr>
          <a:xfrm>
            <a:off x="109200" y="152400"/>
            <a:ext cx="11990575" cy="670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nvSpPr>
        <p:spPr>
          <a:xfrm>
            <a:off x="670325" y="180475"/>
            <a:ext cx="11521800" cy="720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100">
                <a:solidFill>
                  <a:schemeClr val="dk1"/>
                </a:solidFill>
              </a:rPr>
              <a:t>C</a:t>
            </a:r>
            <a:r>
              <a:rPr b="1" lang="en-US" sz="1300">
                <a:solidFill>
                  <a:schemeClr val="dk1"/>
                </a:solidFill>
              </a:rPr>
              <a:t>omportamiento de Consumo por Rangos de Edad (31 de Octubre)</a:t>
            </a:r>
            <a:endParaRPr b="1" sz="1300">
              <a:solidFill>
                <a:schemeClr val="dk1"/>
              </a:solidFill>
            </a:endParaRPr>
          </a:p>
          <a:p>
            <a:pPr indent="0" lvl="0" marL="0" rtl="0" algn="l">
              <a:lnSpc>
                <a:spcPct val="115000"/>
              </a:lnSpc>
              <a:spcBef>
                <a:spcPts val="800"/>
              </a:spcBef>
              <a:spcAft>
                <a:spcPts val="0"/>
              </a:spcAft>
              <a:buNone/>
            </a:pPr>
            <a:r>
              <a:rPr b="1" lang="en-US" sz="1300">
                <a:solidFill>
                  <a:schemeClr val="dk1"/>
                </a:solidFill>
              </a:rPr>
              <a:t>1. Niños y Preescolares (0 a 11 años) – </a:t>
            </a:r>
            <a:r>
              <a:rPr b="1" i="1" lang="en-US" sz="1300">
                <a:solidFill>
                  <a:schemeClr val="dk1"/>
                </a:solidFill>
              </a:rPr>
              <a:t>Impulsados por los Padres</a:t>
            </a:r>
            <a:endParaRPr b="1" i="1" sz="1300">
              <a:solidFill>
                <a:schemeClr val="dk1"/>
              </a:solidFill>
            </a:endParaRPr>
          </a:p>
          <a:p>
            <a:pPr indent="-311150" lvl="0" marL="457200" rtl="0" algn="l">
              <a:lnSpc>
                <a:spcPct val="115000"/>
              </a:lnSpc>
              <a:spcBef>
                <a:spcPts val="800"/>
              </a:spcBef>
              <a:spcAft>
                <a:spcPts val="0"/>
              </a:spcAft>
              <a:buClr>
                <a:schemeClr val="dk1"/>
              </a:buClr>
              <a:buSzPts val="1300"/>
              <a:buChar char="●"/>
            </a:pPr>
            <a:r>
              <a:rPr b="1" lang="en-US" sz="1300">
                <a:solidFill>
                  <a:schemeClr val="dk1"/>
                </a:solidFill>
              </a:rPr>
              <a:t>Confites:</a:t>
            </a:r>
            <a:r>
              <a:rPr lang="en-US" sz="1300">
                <a:solidFill>
                  <a:schemeClr val="dk1"/>
                </a:solidFill>
              </a:rPr>
              <a:t>  Los padres compran grandes volúmenes de caramelos masticables y chocolates económicos para repartir.</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Trajes:</a:t>
            </a:r>
            <a:r>
              <a:rPr lang="en-US" sz="1300">
                <a:solidFill>
                  <a:schemeClr val="dk1"/>
                </a:solidFill>
              </a:rPr>
              <a:t> </a:t>
            </a:r>
            <a:r>
              <a:rPr b="1" lang="en-US" sz="1300">
                <a:solidFill>
                  <a:schemeClr val="dk1"/>
                </a:solidFill>
              </a:rPr>
              <a:t>Alta prioridad.</a:t>
            </a:r>
            <a:r>
              <a:rPr lang="en-US" sz="1300">
                <a:solidFill>
                  <a:schemeClr val="dk1"/>
                </a:solidFill>
              </a:rPr>
              <a:t> Disfraces de personajes de películas infantiles de moda o superhéroes. Se prioriza la compra en tiendas físicas retail o plataformas online.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Enfoque Cultural:</a:t>
            </a:r>
            <a:r>
              <a:rPr lang="en-US" sz="1300">
                <a:solidFill>
                  <a:schemeClr val="dk1"/>
                </a:solidFill>
              </a:rPr>
              <a:t> </a:t>
            </a:r>
            <a:r>
              <a:rPr b="1" lang="en-US" sz="1300">
                <a:solidFill>
                  <a:schemeClr val="dk1"/>
                </a:solidFill>
              </a:rPr>
              <a:t>Halloween 90% / Mascaradas 10%.</a:t>
            </a:r>
            <a:r>
              <a:rPr lang="en-US" sz="1300">
                <a:solidFill>
                  <a:schemeClr val="dk1"/>
                </a:solidFill>
              </a:rPr>
              <a:t> Su participación en mascaradas es principalmente si coincide con actividades escolares.</a:t>
            </a:r>
            <a:endParaRPr sz="1300">
              <a:solidFill>
                <a:schemeClr val="dk1"/>
              </a:solidFill>
            </a:endParaRPr>
          </a:p>
          <a:p>
            <a:pPr indent="0" lvl="0" marL="0" rtl="0" algn="l">
              <a:lnSpc>
                <a:spcPct val="115000"/>
              </a:lnSpc>
              <a:spcBef>
                <a:spcPts val="0"/>
              </a:spcBef>
              <a:spcAft>
                <a:spcPts val="0"/>
              </a:spcAft>
              <a:buNone/>
            </a:pPr>
            <a:r>
              <a:rPr b="1" lang="en-US" sz="1300">
                <a:solidFill>
                  <a:schemeClr val="dk1"/>
                </a:solidFill>
              </a:rPr>
              <a:t>2. Adolescentes y Jóvenes (12 a 24 años) – </a:t>
            </a:r>
            <a:r>
              <a:rPr b="1" i="1" lang="en-US" sz="1300">
                <a:solidFill>
                  <a:schemeClr val="dk1"/>
                </a:solidFill>
              </a:rPr>
              <a:t>Búsqueda de Experiencia e Identidad</a:t>
            </a:r>
            <a:endParaRPr b="1" i="1" sz="1300">
              <a:solidFill>
                <a:schemeClr val="dk1"/>
              </a:solidFill>
            </a:endParaRPr>
          </a:p>
          <a:p>
            <a:pPr indent="-311150" lvl="0" marL="457200" rtl="0" algn="l">
              <a:lnSpc>
                <a:spcPct val="115000"/>
              </a:lnSpc>
              <a:spcBef>
                <a:spcPts val="800"/>
              </a:spcBef>
              <a:spcAft>
                <a:spcPts val="0"/>
              </a:spcAft>
              <a:buClr>
                <a:schemeClr val="dk1"/>
              </a:buClr>
              <a:buSzPts val="1300"/>
              <a:buChar char="●"/>
            </a:pPr>
            <a:r>
              <a:rPr b="1" lang="en-US" sz="1300">
                <a:solidFill>
                  <a:schemeClr val="dk1"/>
                </a:solidFill>
              </a:rPr>
              <a:t>Confites:</a:t>
            </a:r>
            <a:r>
              <a:rPr lang="en-US" sz="1300">
                <a:solidFill>
                  <a:schemeClr val="dk1"/>
                </a:solidFill>
              </a:rPr>
              <a:t> </a:t>
            </a:r>
            <a:r>
              <a:rPr b="1" lang="en-US" sz="1300">
                <a:solidFill>
                  <a:schemeClr val="dk1"/>
                </a:solidFill>
              </a:rPr>
              <a:t>Gasto medio-bajo.</a:t>
            </a:r>
            <a:r>
              <a:rPr lang="en-US" sz="1300">
                <a:solidFill>
                  <a:schemeClr val="dk1"/>
                </a:solidFill>
              </a:rPr>
              <a:t> Consumo propio de dulces premium</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Trajes:</a:t>
            </a:r>
            <a:r>
              <a:rPr lang="en-US" sz="1300">
                <a:solidFill>
                  <a:schemeClr val="dk1"/>
                </a:solidFill>
              </a:rPr>
              <a:t> </a:t>
            </a:r>
            <a:r>
              <a:rPr b="1" lang="en-US" sz="1300">
                <a:solidFill>
                  <a:schemeClr val="dk1"/>
                </a:solidFill>
              </a:rPr>
              <a:t>DIY y Maquillaje.</a:t>
            </a:r>
            <a:r>
              <a:rPr lang="en-US" sz="1300">
                <a:solidFill>
                  <a:schemeClr val="dk1"/>
                </a:solidFill>
              </a:rPr>
              <a:t> Alta preferencia por disfraces caseros creativos, disfraces en grupos de amigos y un fuerte gasto en maquillaje especializado o de terror.</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Enfoque Cultural:</a:t>
            </a:r>
            <a:r>
              <a:rPr lang="en-US" sz="1300">
                <a:solidFill>
                  <a:schemeClr val="dk1"/>
                </a:solidFill>
              </a:rPr>
              <a:t> </a:t>
            </a:r>
            <a:r>
              <a:rPr b="1" lang="en-US" sz="1300">
                <a:solidFill>
                  <a:schemeClr val="dk1"/>
                </a:solidFill>
              </a:rPr>
              <a:t>Halloween 70% / Mascaradas 30%.</a:t>
            </a:r>
            <a:r>
              <a:rPr lang="en-US" sz="1300">
                <a:solidFill>
                  <a:schemeClr val="dk1"/>
                </a:solidFill>
              </a:rPr>
              <a:t> Este grupo asiste activamente a los pasacalles de Mascaradas y Cimarronas en los cantones tradicionales (como Barva o Cartago) por el factor social, consumiendo comida callejera y camisetas.</a:t>
            </a:r>
            <a:endParaRPr sz="1300">
              <a:solidFill>
                <a:schemeClr val="dk1"/>
              </a:solidFill>
            </a:endParaRPr>
          </a:p>
          <a:p>
            <a:pPr indent="0" lvl="0" marL="0" rtl="0" algn="l">
              <a:lnSpc>
                <a:spcPct val="115000"/>
              </a:lnSpc>
              <a:spcBef>
                <a:spcPts val="0"/>
              </a:spcBef>
              <a:spcAft>
                <a:spcPts val="0"/>
              </a:spcAft>
              <a:buNone/>
            </a:pPr>
            <a:r>
              <a:rPr b="1" lang="en-US" sz="1300">
                <a:solidFill>
                  <a:schemeClr val="dk1"/>
                </a:solidFill>
              </a:rPr>
              <a:t>3. Adultos Jóvenes y Medios (25 a 45 años) – </a:t>
            </a:r>
            <a:r>
              <a:rPr b="1" i="1" lang="en-US" sz="1300">
                <a:solidFill>
                  <a:schemeClr val="dk1"/>
                </a:solidFill>
              </a:rPr>
              <a:t>Los Financiadores y Fiesteros</a:t>
            </a:r>
            <a:endParaRPr b="1" i="1" sz="1300">
              <a:solidFill>
                <a:schemeClr val="dk1"/>
              </a:solidFill>
            </a:endParaRPr>
          </a:p>
          <a:p>
            <a:pPr indent="-311150" lvl="0" marL="457200" rtl="0" algn="l">
              <a:lnSpc>
                <a:spcPct val="115000"/>
              </a:lnSpc>
              <a:spcBef>
                <a:spcPts val="800"/>
              </a:spcBef>
              <a:spcAft>
                <a:spcPts val="0"/>
              </a:spcAft>
              <a:buClr>
                <a:schemeClr val="dk1"/>
              </a:buClr>
              <a:buSzPts val="1300"/>
              <a:buChar char="●"/>
            </a:pPr>
            <a:r>
              <a:rPr b="1" lang="en-US" sz="1300">
                <a:solidFill>
                  <a:schemeClr val="dk1"/>
                </a:solidFill>
              </a:rPr>
              <a:t>Confites:</a:t>
            </a:r>
            <a:r>
              <a:rPr lang="en-US" sz="1300">
                <a:solidFill>
                  <a:schemeClr val="dk1"/>
                </a:solidFill>
              </a:rPr>
              <a:t> </a:t>
            </a:r>
            <a:r>
              <a:rPr b="1" lang="en-US" sz="1300">
                <a:solidFill>
                  <a:schemeClr val="dk1"/>
                </a:solidFill>
              </a:rPr>
              <a:t>Gasto alto.</a:t>
            </a:r>
            <a:r>
              <a:rPr lang="en-US" sz="1300">
                <a:solidFill>
                  <a:schemeClr val="dk1"/>
                </a:solidFill>
              </a:rPr>
              <a:t> Compran los dulces que recolectan sus hijos o los confites de marcas reconocidas para regalar en zonas residenciales.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Trajes:</a:t>
            </a:r>
            <a:r>
              <a:rPr lang="en-US" sz="1300">
                <a:solidFill>
                  <a:schemeClr val="dk1"/>
                </a:solidFill>
              </a:rPr>
              <a:t> </a:t>
            </a:r>
            <a:r>
              <a:rPr b="1" lang="en-US" sz="1300">
                <a:solidFill>
                  <a:schemeClr val="dk1"/>
                </a:solidFill>
              </a:rPr>
              <a:t>Alquiler premium.</a:t>
            </a:r>
            <a:r>
              <a:rPr lang="en-US" sz="1300">
                <a:solidFill>
                  <a:schemeClr val="dk1"/>
                </a:solidFill>
              </a:rPr>
              <a:t> Gasto elevado en disfraces para fiestas de oficina o eventos nocturnos de adultos. Buscan realismo o temáticas nostálgicas.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Enfoque Cultural:</a:t>
            </a:r>
            <a:r>
              <a:rPr lang="en-US" sz="1300">
                <a:solidFill>
                  <a:schemeClr val="dk1"/>
                </a:solidFill>
              </a:rPr>
              <a:t> </a:t>
            </a:r>
            <a:r>
              <a:rPr b="1" lang="en-US" sz="1300">
                <a:solidFill>
                  <a:schemeClr val="dk1"/>
                </a:solidFill>
              </a:rPr>
              <a:t>Halloween 50% / Mascaradas 50%.</a:t>
            </a:r>
            <a:r>
              <a:rPr lang="en-US" sz="1300">
                <a:solidFill>
                  <a:schemeClr val="dk1"/>
                </a:solidFill>
              </a:rPr>
              <a:t> Tienen un comportamiento dual. Financian las salidas de Halloween de sus hijos, pero valoran y asisten a las actividades de Mascarada Nacional como rescate cultural, gastando en artesanías y comida típica.</a:t>
            </a:r>
            <a:endParaRPr sz="1300">
              <a:solidFill>
                <a:schemeClr val="dk1"/>
              </a:solidFill>
            </a:endParaRPr>
          </a:p>
          <a:p>
            <a:pPr indent="0" lvl="0" marL="0" rtl="0" algn="l">
              <a:lnSpc>
                <a:spcPct val="115000"/>
              </a:lnSpc>
              <a:spcBef>
                <a:spcPts val="0"/>
              </a:spcBef>
              <a:spcAft>
                <a:spcPts val="0"/>
              </a:spcAft>
              <a:buNone/>
            </a:pPr>
            <a:r>
              <a:rPr b="1" lang="en-US" sz="1300">
                <a:solidFill>
                  <a:schemeClr val="dk1"/>
                </a:solidFill>
              </a:rPr>
              <a:t>4. Adultos Mayores (46 años en adelante) – </a:t>
            </a:r>
            <a:r>
              <a:rPr b="1" i="1" lang="en-US" sz="1300">
                <a:solidFill>
                  <a:schemeClr val="dk1"/>
                </a:solidFill>
              </a:rPr>
              <a:t>Guardianes de la Tradición</a:t>
            </a:r>
            <a:endParaRPr b="1" i="1" sz="1300">
              <a:solidFill>
                <a:schemeClr val="dk1"/>
              </a:solidFill>
            </a:endParaRPr>
          </a:p>
          <a:p>
            <a:pPr indent="-311150" lvl="0" marL="457200" rtl="0" algn="l">
              <a:lnSpc>
                <a:spcPct val="115000"/>
              </a:lnSpc>
              <a:spcBef>
                <a:spcPts val="800"/>
              </a:spcBef>
              <a:spcAft>
                <a:spcPts val="0"/>
              </a:spcAft>
              <a:buClr>
                <a:schemeClr val="dk1"/>
              </a:buClr>
              <a:buSzPts val="1300"/>
              <a:buChar char="●"/>
            </a:pPr>
            <a:r>
              <a:rPr b="1" lang="en-US" sz="1300">
                <a:solidFill>
                  <a:schemeClr val="dk1"/>
                </a:solidFill>
              </a:rPr>
              <a:t>Confites:</a:t>
            </a:r>
            <a:r>
              <a:rPr lang="en-US" sz="1300">
                <a:solidFill>
                  <a:schemeClr val="dk1"/>
                </a:solidFill>
              </a:rPr>
              <a:t> </a:t>
            </a:r>
            <a:r>
              <a:rPr b="1" lang="en-US" sz="1300">
                <a:solidFill>
                  <a:schemeClr val="dk1"/>
                </a:solidFill>
              </a:rPr>
              <a:t>Gasto moderado.</a:t>
            </a:r>
            <a:r>
              <a:rPr lang="en-US" sz="1300">
                <a:solidFill>
                  <a:schemeClr val="dk1"/>
                </a:solidFill>
              </a:rPr>
              <a:t> Compran confites tradicionales únicamente si viven en barrios donde transitan niños pidiendo dulces.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Trajes:</a:t>
            </a:r>
            <a:r>
              <a:rPr lang="en-US" sz="1300">
                <a:solidFill>
                  <a:schemeClr val="dk1"/>
                </a:solidFill>
              </a:rPr>
              <a:t> </a:t>
            </a:r>
            <a:r>
              <a:rPr b="1" lang="en-US" sz="1300">
                <a:solidFill>
                  <a:schemeClr val="dk1"/>
                </a:solidFill>
              </a:rPr>
              <a:t>Gasto nulo.</a:t>
            </a:r>
            <a:r>
              <a:rPr lang="en-US" sz="1300">
                <a:solidFill>
                  <a:schemeClr val="dk1"/>
                </a:solidFill>
              </a:rPr>
              <a:t> Rara vez se disfrazan para Halloween.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Enfoque Cultural:</a:t>
            </a:r>
            <a:r>
              <a:rPr lang="en-US" sz="1300">
                <a:solidFill>
                  <a:schemeClr val="dk1"/>
                </a:solidFill>
              </a:rPr>
              <a:t> </a:t>
            </a:r>
            <a:r>
              <a:rPr b="1" lang="en-US" sz="1300">
                <a:solidFill>
                  <a:schemeClr val="dk1"/>
                </a:solidFill>
              </a:rPr>
              <a:t>Halloween 10% / Mascaradas 90%.</a:t>
            </a:r>
            <a:r>
              <a:rPr lang="en-US" sz="1300">
                <a:solidFill>
                  <a:schemeClr val="dk1"/>
                </a:solidFill>
              </a:rPr>
              <a:t> Es el segmento que sostiene económicamente la tradición de la Mascarada. Apoyan a las cimarronas locales, asisten a los desfiles municipales y consumen gastronomía criolla en ferias rurales.</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ctr">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13"/>
          <p:cNvPicPr preferRelativeResize="0"/>
          <p:nvPr/>
        </p:nvPicPr>
        <p:blipFill>
          <a:blip r:embed="rId3">
            <a:alphaModFix/>
          </a:blip>
          <a:stretch>
            <a:fillRect/>
          </a:stretch>
        </p:blipFill>
        <p:spPr>
          <a:xfrm>
            <a:off x="152400" y="795963"/>
            <a:ext cx="11887200" cy="52660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4"/>
          <p:cNvPicPr preferRelativeResize="0"/>
          <p:nvPr/>
        </p:nvPicPr>
        <p:blipFill>
          <a:blip r:embed="rId3">
            <a:alphaModFix/>
          </a:blip>
          <a:stretch>
            <a:fillRect/>
          </a:stretch>
        </p:blipFill>
        <p:spPr>
          <a:xfrm>
            <a:off x="152400" y="152400"/>
            <a:ext cx="11887197" cy="61288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15"/>
          <p:cNvPicPr preferRelativeResize="0"/>
          <p:nvPr/>
        </p:nvPicPr>
        <p:blipFill>
          <a:blip r:embed="rId3">
            <a:alphaModFix/>
          </a:blip>
          <a:stretch>
            <a:fillRect/>
          </a:stretch>
        </p:blipFill>
        <p:spPr>
          <a:xfrm>
            <a:off x="152400" y="152400"/>
            <a:ext cx="11717058" cy="655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16"/>
          <p:cNvPicPr preferRelativeResize="0"/>
          <p:nvPr/>
        </p:nvPicPr>
        <p:blipFill>
          <a:blip r:embed="rId3">
            <a:alphaModFix/>
          </a:blip>
          <a:stretch>
            <a:fillRect/>
          </a:stretch>
        </p:blipFill>
        <p:spPr>
          <a:xfrm>
            <a:off x="152400" y="152400"/>
            <a:ext cx="11774512" cy="65531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17"/>
          <p:cNvPicPr preferRelativeResize="0"/>
          <p:nvPr/>
        </p:nvPicPr>
        <p:blipFill>
          <a:blip r:embed="rId3">
            <a:alphaModFix/>
          </a:blip>
          <a:stretch>
            <a:fillRect/>
          </a:stretch>
        </p:blipFill>
        <p:spPr>
          <a:xfrm>
            <a:off x="152400" y="152400"/>
            <a:ext cx="11887198" cy="61968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nvSpPr>
        <p:spPr>
          <a:xfrm>
            <a:off x="886125" y="469950"/>
            <a:ext cx="6882000" cy="130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t>Recursos</a:t>
            </a:r>
            <a:endParaRPr b="1" sz="1700"/>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US" u="sng">
                <a:solidFill>
                  <a:schemeClr val="hlink"/>
                </a:solidFill>
                <a:hlinkClick r:id="rId3"/>
              </a:rPr>
              <a:t>https://nrf.com/research-insights/holiday-data-and-trends/halloween/halloween-data-center</a:t>
            </a:r>
            <a:endParaRPr/>
          </a:p>
          <a:p>
            <a:pPr indent="-317500" lvl="0" marL="457200" rtl="0" algn="l">
              <a:spcBef>
                <a:spcPts val="0"/>
              </a:spcBef>
              <a:spcAft>
                <a:spcPts val="0"/>
              </a:spcAft>
              <a:buSzPts val="1400"/>
              <a:buChar char="●"/>
            </a:pPr>
            <a:r>
              <a:rPr lang="en-US" u="sng">
                <a:solidFill>
                  <a:schemeClr val="hlink"/>
                </a:solidFill>
                <a:hlinkClick r:id="rId4"/>
              </a:rPr>
              <a:t>https://www.circana.com/post/unwrapping-2025-halloween-candy-trends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